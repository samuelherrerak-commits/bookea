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c3e790e2-c4d6-a5f8-7e1a-f6302034ab2d}">
          <p14:sldIdLst>
            <p14:sldId id="256"/>
          </p14:sldIdLst>
        </p14:section>
        <p14:section name="Contexto" id="{05dc56a8-f349-aee0-e796-12a41cbef9ad}">
          <p14:sldIdLst>
            <p14:sldId id="257"/>
          </p14:sldIdLst>
        </p14:section>
        <p14:section name="Desarrollo" id="{c5da44a9-f100-ce91-afb4-a2d5a50be1f4}">
          <p14:sldIdLst>
            <p14:sldId id="258"/>
            <p14:sldId id="259"/>
            <p14:sldId id="260"/>
          </p14:sldIdLst>
        </p14:section>
        <p14:section name="Cierre" id="{93329159-52ac-1000-7811-de60c2f62f5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5B57"/>
                </a:solidFill>
                <a:latin typeface="+mn-lt"/>
              </a:defRPr>
            </a:pPr>
            <a:r>
              <a:rPr sz="1200" b="0" i="0" u="none" strike="noStrike">
                <a:solidFill>
                  <a:srgbClr val="5B5B57"/>
                </a:solidFill>
                <a:latin typeface="+mn-lt"/>
              </a:rPr>
              <a:t>Costos de los meses 4 a 12, en dólares</a:t>
            </a:r>
          </a:p>
        </c:rich>
      </c:tx>
      <c:layout/>
      <c:overlay val="0"/>
    </c:title>
    <c:autoTitleDeleted val="0"/>
    <c:plotArea>
      <c:layout/>
      <c:barChart>
        <c:barDir val="col"/>
        <c:grouping val="stacked"/>
        <c:varyColors val="0"/>
        <c:ser>
          <c:idx val="0"/>
          <c:order val="0"/>
          <c:tx>
            <c:strRef>
              <c:f>Sheet1!$B$1</c:f>
              <c:strCache>
                <c:ptCount val="1"/>
                <c:pt idx="0">
                  <c:v>Costos fijos</c:v>
                </c:pt>
              </c:strCache>
            </c:strRef>
          </c:tx>
          <c:spPr>
            <a:solidFill>
              <a:srgbClr val="2A78D6"/>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Conservador</c:v>
                  </c:pt>
                  <c:pt idx="1">
                    <c:v>Base</c:v>
                  </c:pt>
                  <c:pt idx="2">
                    <c:v>Optimista</c:v>
                  </c:pt>
                </c:lvl>
              </c:multiLvlStrCache>
            </c:multiLvlStrRef>
          </c:cat>
          <c:val>
            <c:numRef>
              <c:f>Sheet1!$B$2:$B$4</c:f>
              <c:numCache>
                <c:formatCode>General</c:formatCode>
                <c:ptCount val="3"/>
                <c:pt idx="0">
                  <c:v>1611</c:v>
                </c:pt>
                <c:pt idx="1">
                  <c:v>1611</c:v>
                </c:pt>
                <c:pt idx="2">
                  <c:v>1649</c:v>
                </c:pt>
              </c:numCache>
            </c:numRef>
          </c:val>
        </c:ser>
        <c:ser>
          <c:idx val="1"/>
          <c:order val="1"/>
          <c:tx>
            <c:strRef>
              <c:f>Sheet1!$C$1</c:f>
              <c:strCache>
                <c:ptCount val="1"/>
                <c:pt idx="0">
                  <c:v>Costos variables</c:v>
                </c:pt>
              </c:strCache>
            </c:strRef>
          </c:tx>
          <c:spPr>
            <a:solidFill>
              <a:srgbClr val="EB6834"/>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Conservador</c:v>
                  </c:pt>
                  <c:pt idx="1">
                    <c:v>Base</c:v>
                  </c:pt>
                  <c:pt idx="2">
                    <c:v>Optimista</c:v>
                  </c:pt>
                </c:lvl>
              </c:multiLvlStrCache>
            </c:multiLvlStrRef>
          </c:cat>
          <c:val>
            <c:numRef>
              <c:f>Sheet1!$C$2:$C$4</c:f>
              <c:numCache>
                <c:formatCode>General</c:formatCode>
                <c:ptCount val="3"/>
                <c:pt idx="0">
                  <c:v>1127</c:v>
                </c:pt>
                <c:pt idx="1">
                  <c:v>2174</c:v>
                </c:pt>
                <c:pt idx="2">
                  <c:v>3355</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B5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3D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5B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Hoy presentamos el análisis de la estructura de costos de bookeaa, una plataforma de reservas en línea que funciona por suscripción. La idea central es mostrar cómo se diseña la estructura de costos en tres fases y cómo cambian los costos según el escenario de ventas.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bookeaa ofrece a pequeños negocios de servicios una página para que sus clientes reserven citas. El modelo es de suscripción: cada negocio tiene un mes de prueba sin costo y luego paga una cuota fija de $12 al mes. La meta es incorporar 40 negocios en el primer trimestre. Las ventas se proyectan en unidades: negocios que entran, que pasan a pagar, que se mantienen, y luego se multiplica por la cuota. Las cifras fueron modificadas por confidencialidad, pero mantienen las proporciones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enfoque es que la estructura de costos no es fija: se diseña y se perfecciona. En la fase 1, el primer trimestre, arrancamos con una estructura liviana y presupuestada por partidas. En la fase 2, al cierre del trimestre, usamos los datos reales para clasificar los costos en fijos y variables y construir un presupuesto flexible. En la fase 3, el segundo año, llegamos a la estructura objetivo: completa, profesional y organizada por actividades.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fase 1 los costos del trimestre son iguales en los tres escenarios, $333, porque se presupuestan por partidas. Al pasar a la fase 2 incorporamos los costos variables: la incorporación de cada negocio, la atención mensual y los tributos sobre las ventas. Ahora los costos fijos casi no cambian entre escenarios, pero los variables van de $1.127 a $3.355. Cada cliente que paga aporta un margen de contribución de $9,89. El punto de equilibrio clásico es de unos 18 negocios, pero al incluir el costo de incorporar clientes nuevos sube a 34 en el escenario base. En el conservador el apalancamiento operativo es de 6,6, lo que significa que cualquier variación en las ventas se amplifica mucho en la utilidad.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3 es la estructura objetivo para el segundo año. Incorpora la remuneración de la dirección, servicios contables externos e infraestructura escalable. Al mismo tiempo, la incorporación de clientes pasa a un esquema de autoservicio guiado y la atención se apoya en guías, así que el costo variable por cliente baja de $2,11 a $1,41. En el escenario base, el segundo año cierra con un resultado de $7.104. Como los costos fijos suben, recomendamos activar esta fase por volumen: cuando la cartera supere el punto de equilibrio, de unos 60 negocios pagando.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las proyecciones de ventas afectan a los costos de tres maneras. En el total, porque desde la fase 2 la parte variable crece con los clientes. En el costo unitario, porque a mayor volumen los costos fijos se reparten entre más clientes. Y en el riesgo, porque con menos ventas la empresa opera cerca del punto de equilibrio. Recomendamos registrar las horas por cliente desde el inicio, aplicar el presupuesto flexible con comparación mensual, activar la fase 3 por volumen y vigilar la cuota, la conversión y la cancelación.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F0F0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691640"/>
            <a:ext cx="8229600" cy="1463040"/>
          </a:xfrm>
          <a:prstGeom prst="rect">
            <a:avLst/>
          </a:prstGeom>
          <a:noFill/>
          <a:ln/>
        </p:spPr>
        <p:txBody>
          <a:bodyPr wrap="square" rtlCol="0"/>
          <a:lstStyle>
            <a:lvl1pPr algn="l" indent="0" marL="0">
              <a:buNone/>
              <a:defRPr lang="en-US" sz="4400" b="1" dirty="0">
                <a:solidFill>
                  <a:schemeClr val="bg1"/>
                </a:solidFill>
                <a:latin typeface="Arial Narrow" pitchFamily="34" charset="0"/>
                <a:ea typeface="Arial Narrow" pitchFamily="34" charset="-122"/>
                <a:cs typeface="Arial Narrow" pitchFamily="34" charset="-120"/>
              </a:defRPr>
            </a:lvl1pPr>
          </a:lstStyle>
          <a:p>
            <a:pPr algn="l" indent="0" marL="0">
              <a:buNone/>
            </a:pPr>
            <a:endParaRPr lang="en-US" sz="4400" dirty="0"/>
          </a:p>
        </p:txBody>
      </p:sp>
      <p:sp>
        <p:nvSpPr>
          <p:cNvPr id="3" name="Text 0"/>
          <p:cNvSpPr/>
          <p:nvPr>
            <p:ph idx="101" type="body" hasCustomPrompt="1"/>
          </p:nvPr>
        </p:nvSpPr>
        <p:spPr>
          <a:xfrm>
            <a:off x="457200" y="3291840"/>
            <a:ext cx="6858000" cy="731520"/>
          </a:xfrm>
          <a:prstGeom prst="rect">
            <a:avLst/>
          </a:prstGeom>
          <a:noFill/>
          <a:ln/>
        </p:spPr>
        <p:txBody>
          <a:bodyPr wrap="square" rtlCol="0"/>
          <a:lstStyle>
            <a:lvl1pPr indent="0" marL="0">
              <a:buNone/>
              <a:defRPr lang="en-US" sz="1600" dirty="0">
                <a:solidFill>
                  <a:srgbClr val="A3A39E"/>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algn="l" indent="0" marL="0">
              <a:buNone/>
              <a:defRPr lang="en-US" sz="3000" b="1" dirty="0">
                <a:solidFill>
                  <a:schemeClr val="tx1"/>
                </a:solidFill>
                <a:latin typeface="Arial Narrow" pitchFamily="34" charset="0"/>
                <a:ea typeface="Arial Narrow" pitchFamily="34" charset="-122"/>
                <a:cs typeface="Arial Narrow" pitchFamily="34" charset="-120"/>
              </a:defRPr>
            </a:lvl1pPr>
          </a:lstStyle>
          <a:p>
            <a:pPr algn="l" indent="0" marL="0">
              <a:buNone/>
            </a:pPr>
            <a:endParaRPr lang="en-US" sz="3000" dirty="0"/>
          </a:p>
        </p:txBody>
      </p:sp>
      <p:pic>
        <p:nvPicPr>
          <p:cNvPr id="3" name="Image 0" descr="logo-oscuro.png">    </p:cNvPr>
          <p:cNvPicPr>
            <a:picLocks noChangeAspect="1"/>
          </p:cNvPicPr>
          <p:nvPr/>
        </p:nvPicPr>
        <p:blipFill>
          <a:blip r:embed="rId1"/>
          <a:stretch>
            <a:fillRect/>
          </a:stretch>
        </p:blipFill>
        <p:spPr>
          <a:xfrm>
            <a:off x="457200" y="4736592"/>
            <a:ext cx="182880" cy="182880"/>
          </a:xfrm>
          <a:prstGeom prst="rect">
            <a:avLst/>
          </a:prstGeom>
        </p:spPr>
      </p:pic>
      <p:sp>
        <p:nvSpPr>
          <p:cNvPr id="4" name="Text 0"/>
          <p:cNvSpPr/>
          <p:nvPr/>
        </p:nvSpPr>
        <p:spPr>
          <a:xfrm>
            <a:off x="694944" y="4718304"/>
            <a:ext cx="2743200" cy="219456"/>
          </a:xfrm>
          <a:prstGeom prst="rect">
            <a:avLst/>
          </a:prstGeom>
          <a:noFill/>
          <a:ln/>
        </p:spPr>
        <p:txBody>
          <a:bodyPr wrap="square" lIns="0" tIns="0" rIns="0" bIns="0" rtlCol="0" anchor="ctr"/>
          <a:lstStyle/>
          <a:p>
            <a:pPr indent="0" marL="0">
              <a:buNone/>
            </a:pPr>
            <a:r>
              <a:rPr lang="en-US" sz="1000" dirty="0">
                <a:solidFill>
                  <a:srgbClr val="5B5B57"/>
                </a:solidFill>
              </a:rPr>
              <a:t>bookeaa · Contabilidad VI</a:t>
            </a:r>
            <a:endParaRPr lang="en-US" sz="100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0F0F0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algn="l" indent="0" marL="0">
              <a:buNone/>
              <a:defRPr lang="en-US" sz="3000" b="1" dirty="0">
                <a:solidFill>
                  <a:schemeClr val="bg1"/>
                </a:solidFill>
                <a:latin typeface="Arial Narrow" pitchFamily="34" charset="0"/>
                <a:ea typeface="Arial Narrow" pitchFamily="34" charset="-122"/>
                <a:cs typeface="Arial Narrow" pitchFamily="34" charset="-120"/>
              </a:defRPr>
            </a:lvl1pPr>
          </a:lstStyle>
          <a:p>
            <a:pPr algn="l" indent="0" marL="0">
              <a:buNone/>
            </a:pPr>
            <a:endParaRPr lang="en-US" sz="3000" dirty="0"/>
          </a:p>
        </p:txBody>
      </p:sp>
      <p:pic>
        <p:nvPicPr>
          <p:cNvPr id="3" name="Image 0" descr="logo-claro.png">    </p:cNvPr>
          <p:cNvPicPr>
            <a:picLocks noChangeAspect="1"/>
          </p:cNvPicPr>
          <p:nvPr/>
        </p:nvPicPr>
        <p:blipFill>
          <a:blip r:embed="rId1"/>
          <a:stretch>
            <a:fillRect/>
          </a:stretch>
        </p:blipFill>
        <p:spPr>
          <a:xfrm>
            <a:off x="457200" y="4736592"/>
            <a:ext cx="182880" cy="182880"/>
          </a:xfrm>
          <a:prstGeom prst="rect">
            <a:avLst/>
          </a:prstGeom>
        </p:spPr>
      </p:pic>
      <p:sp>
        <p:nvSpPr>
          <p:cNvPr id="4" name="Text 0"/>
          <p:cNvSpPr/>
          <p:nvPr/>
        </p:nvSpPr>
        <p:spPr>
          <a:xfrm>
            <a:off x="694944" y="4718304"/>
            <a:ext cx="2743200" cy="219456"/>
          </a:xfrm>
          <a:prstGeom prst="rect">
            <a:avLst/>
          </a:prstGeom>
          <a:noFill/>
          <a:ln/>
        </p:spPr>
        <p:txBody>
          <a:bodyPr wrap="square" lIns="0" tIns="0" rIns="0" bIns="0" rtlCol="0" anchor="ctr"/>
          <a:lstStyle/>
          <a:p>
            <a:pPr indent="0" marL="0">
              <a:buNone/>
            </a:pPr>
            <a:r>
              <a:rPr lang="en-US" sz="1000" dirty="0">
                <a:solidFill>
                  <a:srgbClr val="A3A39E"/>
                </a:solidFill>
              </a:rPr>
              <a:t>bookeaa · Contabilidad VI</a:t>
            </a:r>
            <a:endParaRPr lang="en-US" sz="100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A3A39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claro.png">    </p:cNvPr>
          <p:cNvPicPr>
            <a:picLocks noChangeAspect="1"/>
          </p:cNvPicPr>
          <p:nvPr/>
        </p:nvPicPr>
        <p:blipFill>
          <a:blip r:embed="rId1"/>
          <a:stretch>
            <a:fillRect/>
          </a:stretch>
        </p:blipFill>
        <p:spPr>
          <a:xfrm>
            <a:off x="457200" y="502920"/>
            <a:ext cx="502920" cy="502920"/>
          </a:xfrm>
          <a:prstGeom prst="rect">
            <a:avLst/>
          </a:prstGeom>
        </p:spPr>
      </p:pic>
      <p:sp>
        <p:nvSpPr>
          <p:cNvPr id="3" name="marca"/>
          <p:cNvSpPr txBox="1"/>
          <p:nvPr/>
        </p:nvSpPr>
        <p:spPr>
          <a:xfrm>
            <a:off x="1097280" y="457200"/>
            <a:ext cx="274320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Narrow" pitchFamily="34" charset="0"/>
                <a:ea typeface="Arial Narrow" pitchFamily="34" charset="-122"/>
                <a:cs typeface="Arial Narrow" pitchFamily="34" charset="-120"/>
              </a:rPr>
              <a:t>bookeaa</a:t>
            </a:r>
            <a:endParaRPr lang="en-US" sz="3400" dirty="0"/>
          </a:p>
        </p:txBody>
      </p:sp>
      <p:sp>
        <p:nvSpPr>
          <p:cNvPr id="4" name="kicker"/>
          <p:cNvSpPr txBox="1"/>
          <p:nvPr/>
        </p:nvSpPr>
        <p:spPr>
          <a:xfrm>
            <a:off x="457200" y="1371600"/>
            <a:ext cx="8229600" cy="256032"/>
          </a:xfrm>
          <a:prstGeom prst="rect">
            <a:avLst/>
          </a:prstGeom>
          <a:noFill/>
          <a:ln/>
        </p:spPr>
        <p:txBody>
          <a:bodyPr wrap="square" lIns="0" tIns="0" rIns="0" bIns="0" rtlCol="0" anchor="ctr"/>
          <a:lstStyle/>
          <a:p>
            <a:pPr indent="0" marL="0">
              <a:buNone/>
            </a:pPr>
            <a:r>
              <a:rPr lang="en-US" sz="1100" b="1" spc="300" kern="0" dirty="0">
                <a:solidFill>
                  <a:srgbClr val="A3A39E"/>
                </a:solidFill>
              </a:rPr>
              <a:t>CONTABILIDAD VI · CONTABILIDAD DE COSTOS</a:t>
            </a:r>
            <a:endParaRPr lang="en-US" sz="1100" dirty="0"/>
          </a:p>
        </p:txBody>
      </p:sp>
      <p:sp>
        <p:nvSpPr>
          <p:cNvPr id="5" name="Text 0"/>
          <p:cNvSpPr/>
          <p:nvPr>
            <p:ph idx="100" type="title" hasCustomPrompt="1"/>
          </p:nvPr>
        </p:nvSpPr>
        <p:spPr>
          <a:xfrm>
            <a:off x="457200" y="1691640"/>
            <a:ext cx="8229600" cy="1463040"/>
          </a:xfrm>
          <a:prstGeom prst="rect">
            <a:avLst/>
          </a:prstGeom>
          <a:noFill/>
          <a:ln/>
        </p:spPr>
        <p:txBody>
          <a:bodyPr wrap="square" lIns="0" tIns="0" rIns="0" bIns="0" rtlCol="0" anchor="t"/>
          <a:lstStyle/>
          <a:p>
            <a:pPr algn="l" indent="0" marL="0">
              <a:buNone/>
            </a:pPr>
            <a:r>
              <a:rPr lang="en-US" sz="4400" b="1" dirty="0">
                <a:solidFill>
                  <a:schemeClr val="bg1"/>
                </a:solidFill>
                <a:latin typeface="Arial Narrow" pitchFamily="34" charset="0"/>
                <a:ea typeface="Arial Narrow" pitchFamily="34" charset="-122"/>
                <a:cs typeface="Arial Narrow" pitchFamily="34" charset="-120"/>
              </a:rPr>
              <a:t>ESTRUCTURA DE COSTOS EN TRES FASES</a:t>
            </a:r>
            <a:endParaRPr lang="en-US" sz="4400" dirty="0"/>
          </a:p>
        </p:txBody>
      </p:sp>
      <p:sp>
        <p:nvSpPr>
          <p:cNvPr id="6" name="Text 0"/>
          <p:cNvSpPr/>
          <p:nvPr>
            <p:ph idx="101" type="body" hasCustomPrompt="1"/>
          </p:nvPr>
        </p:nvSpPr>
        <p:spPr>
          <a:xfrm>
            <a:off x="457200" y="3291840"/>
            <a:ext cx="6858000" cy="731520"/>
          </a:xfrm>
          <a:prstGeom prst="rect">
            <a:avLst/>
          </a:prstGeom>
          <a:noFill/>
          <a:ln/>
        </p:spPr>
        <p:txBody>
          <a:bodyPr wrap="square" lIns="0" tIns="0" rIns="0" bIns="0" rtlCol="0" anchor="t"/>
          <a:lstStyle/>
          <a:p>
            <a:pPr indent="0" marL="0">
              <a:buNone/>
            </a:pPr>
            <a:r>
              <a:rPr lang="en-US" sz="1600" dirty="0">
                <a:solidFill>
                  <a:srgbClr val="A3A39E"/>
                </a:solidFill>
              </a:rPr>
              <a:t>Cómo cambian los costos de una empresa de software por suscripción según sus proyecciones de ventas</a:t>
            </a:r>
            <a:endParaRPr lang="en-US" sz="1600" dirty="0"/>
          </a:p>
        </p:txBody>
      </p:sp>
      <p:sp>
        <p:nvSpPr>
          <p:cNvPr id="7" name="autores"/>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rgbClr val="A3A39E"/>
                </a:solidFill>
              </a:rPr>
              <a:t>[Nombres de los estudiantes]  ·  Prof. [Nombre del docente]  ·  Octubre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Arial Narrow" pitchFamily="34" charset="0"/>
                <a:ea typeface="Arial Narrow" pitchFamily="34" charset="-122"/>
                <a:cs typeface="Arial Narrow" pitchFamily="34" charset="-120"/>
              </a:rPr>
              <a:t>UN NEGOCIO POR SUSCRIPCIÓN</a:t>
            </a:r>
            <a:endParaRPr lang="en-US" sz="3000" dirty="0"/>
          </a:p>
        </p:txBody>
      </p:sp>
      <p:sp>
        <p:nvSpPr>
          <p:cNvPr id="3" name="descripcion"/>
          <p:cNvSpPr txBox="1"/>
          <p:nvPr/>
        </p:nvSpPr>
        <p:spPr>
          <a:xfrm>
            <a:off x="457200" y="1143000"/>
            <a:ext cx="4663440" cy="914400"/>
          </a:xfrm>
          <a:prstGeom prst="rect">
            <a:avLst/>
          </a:prstGeom>
          <a:noFill/>
          <a:ln/>
        </p:spPr>
        <p:txBody>
          <a:bodyPr wrap="square" lIns="0" tIns="0" rIns="0" bIns="0" rtlCol="0" anchor="t"/>
          <a:lstStyle/>
          <a:p>
            <a:pPr indent="0" marL="0">
              <a:buNone/>
            </a:pPr>
            <a:r>
              <a:rPr lang="en-US" sz="1500" dirty="0">
                <a:solidFill>
                  <a:srgbClr val="0F0F0E"/>
                </a:solidFill>
              </a:rPr>
              <a:t>Plataforma digital para que salones de belleza, barberías y centros de estética reciban reservas de citas en línea. El ingreso se acumula mes a mes con cada cliente que se queda.</a:t>
            </a:r>
            <a:endParaRPr lang="en-US" sz="1500" dirty="0"/>
          </a:p>
        </p:txBody>
      </p:sp>
      <p:sp>
        <p:nvSpPr>
          <p:cNvPr id="4" name="kicker"/>
          <p:cNvSpPr txBox="1"/>
          <p:nvPr/>
        </p:nvSpPr>
        <p:spPr>
          <a:xfrm>
            <a:off x="457200" y="2331720"/>
            <a:ext cx="4663440" cy="256032"/>
          </a:xfrm>
          <a:prstGeom prst="rect">
            <a:avLst/>
          </a:prstGeom>
          <a:noFill/>
          <a:ln/>
        </p:spPr>
        <p:txBody>
          <a:bodyPr wrap="square" lIns="0" tIns="0" rIns="0" bIns="0" rtlCol="0" anchor="ctr"/>
          <a:lstStyle/>
          <a:p>
            <a:pPr indent="0" marL="0">
              <a:buNone/>
            </a:pPr>
            <a:r>
              <a:rPr lang="en-US" sz="1100" b="1" spc="300" kern="0" dirty="0">
                <a:solidFill>
                  <a:srgbClr val="5B5B57"/>
                </a:solidFill>
              </a:rPr>
              <a:t>CÓMO SE PROYECTAN LAS VENTAS</a:t>
            </a:r>
            <a:endParaRPr lang="en-US" sz="1100" dirty="0"/>
          </a:p>
        </p:txBody>
      </p:sp>
      <p:sp>
        <p:nvSpPr>
          <p:cNvPr id="5" name="paso1"/>
          <p:cNvSpPr/>
          <p:nvPr/>
        </p:nvSpPr>
        <p:spPr>
          <a:xfrm>
            <a:off x="457200" y="2697480"/>
            <a:ext cx="1069848" cy="1417320"/>
          </a:xfrm>
          <a:prstGeom prst="roundRect">
            <a:avLst>
              <a:gd name="adj" fmla="val 8547"/>
            </a:avLst>
          </a:prstGeom>
          <a:solidFill>
            <a:srgbClr val="F4F4F2"/>
          </a:solidFill>
          <a:ln w="12700">
            <a:solidFill>
              <a:srgbClr val="F4F4F2"/>
            </a:solidFill>
            <a:prstDash val="solid"/>
          </a:ln>
        </p:spPr>
      </p:sp>
      <p:sp>
        <p:nvSpPr>
          <p:cNvPr id="6" name="num-paso"/>
          <p:cNvSpPr txBox="1"/>
          <p:nvPr/>
        </p:nvSpPr>
        <p:spPr>
          <a:xfrm>
            <a:off x="566928" y="2788920"/>
            <a:ext cx="822960" cy="411480"/>
          </a:xfrm>
          <a:prstGeom prst="rect">
            <a:avLst/>
          </a:prstGeom>
          <a:noFill/>
          <a:ln/>
        </p:spPr>
        <p:txBody>
          <a:bodyPr wrap="square" lIns="0" tIns="0" rIns="0" bIns="0" rtlCol="0" anchor="ctr"/>
          <a:lstStyle/>
          <a:p>
            <a:pPr indent="0" marL="0">
              <a:buNone/>
            </a:pPr>
            <a:r>
              <a:rPr lang="en-US" sz="2600" b="1" dirty="0">
                <a:solidFill>
                  <a:srgbClr val="0F0F0E"/>
                </a:solidFill>
                <a:latin typeface="Arial Narrow" pitchFamily="34" charset="0"/>
                <a:ea typeface="Arial Narrow" pitchFamily="34" charset="-122"/>
                <a:cs typeface="Arial Narrow" pitchFamily="34" charset="-120"/>
              </a:rPr>
              <a:t>1</a:t>
            </a:r>
            <a:endParaRPr lang="en-US" sz="2600" dirty="0"/>
          </a:p>
        </p:txBody>
      </p:sp>
      <p:sp>
        <p:nvSpPr>
          <p:cNvPr id="7" name="texto-paso"/>
          <p:cNvSpPr txBox="1"/>
          <p:nvPr/>
        </p:nvSpPr>
        <p:spPr>
          <a:xfrm>
            <a:off x="566928" y="3246120"/>
            <a:ext cx="896112" cy="822960"/>
          </a:xfrm>
          <a:prstGeom prst="rect">
            <a:avLst/>
          </a:prstGeom>
          <a:noFill/>
          <a:ln/>
        </p:spPr>
        <p:txBody>
          <a:bodyPr wrap="square" lIns="0" tIns="0" rIns="0" bIns="0" rtlCol="0" anchor="t"/>
          <a:lstStyle/>
          <a:p>
            <a:pPr indent="0" marL="0">
              <a:buNone/>
            </a:pPr>
            <a:r>
              <a:rPr lang="en-US" sz="1100" b="1" dirty="0">
                <a:solidFill>
                  <a:srgbClr val="0F0F0E"/>
                </a:solidFill>
              </a:rPr>
              <a:t>Se incorpora</a:t>
            </a:r>
            <a:endParaRPr lang="en-US" sz="1100" dirty="0"/>
          </a:p>
          <a:p>
            <a:pPr indent="0" marL="0">
              <a:buNone/>
            </a:pPr>
            <a:r>
              <a:rPr lang="en-US" sz="1100" dirty="0">
                <a:solidFill>
                  <a:srgbClr val="5B5B57"/>
                </a:solidFill>
              </a:rPr>
              <a:t>Mes de prueba sin costo</a:t>
            </a:r>
            <a:endParaRPr lang="en-US" sz="1100" dirty="0"/>
          </a:p>
        </p:txBody>
      </p:sp>
      <p:sp>
        <p:nvSpPr>
          <p:cNvPr id="8" name="paso2"/>
          <p:cNvSpPr/>
          <p:nvPr/>
        </p:nvSpPr>
        <p:spPr>
          <a:xfrm>
            <a:off x="1655064" y="2697480"/>
            <a:ext cx="1069848" cy="1417320"/>
          </a:xfrm>
          <a:prstGeom prst="roundRect">
            <a:avLst>
              <a:gd name="adj" fmla="val 8547"/>
            </a:avLst>
          </a:prstGeom>
          <a:solidFill>
            <a:srgbClr val="F4F4F2"/>
          </a:solidFill>
          <a:ln w="12700">
            <a:solidFill>
              <a:srgbClr val="F4F4F2"/>
            </a:solidFill>
            <a:prstDash val="solid"/>
          </a:ln>
        </p:spPr>
      </p:sp>
      <p:sp>
        <p:nvSpPr>
          <p:cNvPr id="9" name="num-paso"/>
          <p:cNvSpPr txBox="1"/>
          <p:nvPr/>
        </p:nvSpPr>
        <p:spPr>
          <a:xfrm>
            <a:off x="1764792" y="2788920"/>
            <a:ext cx="822960" cy="411480"/>
          </a:xfrm>
          <a:prstGeom prst="rect">
            <a:avLst/>
          </a:prstGeom>
          <a:noFill/>
          <a:ln/>
        </p:spPr>
        <p:txBody>
          <a:bodyPr wrap="square" lIns="0" tIns="0" rIns="0" bIns="0" rtlCol="0" anchor="ctr"/>
          <a:lstStyle/>
          <a:p>
            <a:pPr indent="0" marL="0">
              <a:buNone/>
            </a:pPr>
            <a:r>
              <a:rPr lang="en-US" sz="2600" b="1" dirty="0">
                <a:solidFill>
                  <a:srgbClr val="0F0F0E"/>
                </a:solidFill>
                <a:latin typeface="Arial Narrow" pitchFamily="34" charset="0"/>
                <a:ea typeface="Arial Narrow" pitchFamily="34" charset="-122"/>
                <a:cs typeface="Arial Narrow" pitchFamily="34" charset="-120"/>
              </a:rPr>
              <a:t>2</a:t>
            </a:r>
            <a:endParaRPr lang="en-US" sz="2600" dirty="0"/>
          </a:p>
        </p:txBody>
      </p:sp>
      <p:sp>
        <p:nvSpPr>
          <p:cNvPr id="10" name="texto-paso"/>
          <p:cNvSpPr txBox="1"/>
          <p:nvPr/>
        </p:nvSpPr>
        <p:spPr>
          <a:xfrm>
            <a:off x="1764792" y="3246120"/>
            <a:ext cx="896112" cy="822960"/>
          </a:xfrm>
          <a:prstGeom prst="rect">
            <a:avLst/>
          </a:prstGeom>
          <a:noFill/>
          <a:ln/>
        </p:spPr>
        <p:txBody>
          <a:bodyPr wrap="square" lIns="0" tIns="0" rIns="0" bIns="0" rtlCol="0" anchor="t"/>
          <a:lstStyle/>
          <a:p>
            <a:pPr indent="0" marL="0">
              <a:buNone/>
            </a:pPr>
            <a:r>
              <a:rPr lang="en-US" sz="1100" b="1" dirty="0">
                <a:solidFill>
                  <a:srgbClr val="0F0F0E"/>
                </a:solidFill>
              </a:rPr>
              <a:t>Pasa a pagar</a:t>
            </a:r>
            <a:endParaRPr lang="en-US" sz="1100" dirty="0"/>
          </a:p>
          <a:p>
            <a:pPr indent="0" marL="0">
              <a:buNone/>
            </a:pPr>
            <a:r>
              <a:rPr lang="en-US" sz="1100" dirty="0">
                <a:solidFill>
                  <a:srgbClr val="5B5B57"/>
                </a:solidFill>
              </a:rPr>
              <a:t>70 % de conversión</a:t>
            </a:r>
            <a:endParaRPr lang="en-US" sz="1100" dirty="0"/>
          </a:p>
        </p:txBody>
      </p:sp>
      <p:sp>
        <p:nvSpPr>
          <p:cNvPr id="11" name="paso3"/>
          <p:cNvSpPr/>
          <p:nvPr/>
        </p:nvSpPr>
        <p:spPr>
          <a:xfrm>
            <a:off x="2852928" y="2697480"/>
            <a:ext cx="1069848" cy="1417320"/>
          </a:xfrm>
          <a:prstGeom prst="roundRect">
            <a:avLst>
              <a:gd name="adj" fmla="val 8547"/>
            </a:avLst>
          </a:prstGeom>
          <a:solidFill>
            <a:srgbClr val="F4F4F2"/>
          </a:solidFill>
          <a:ln w="12700">
            <a:solidFill>
              <a:srgbClr val="F4F4F2"/>
            </a:solidFill>
            <a:prstDash val="solid"/>
          </a:ln>
        </p:spPr>
      </p:sp>
      <p:sp>
        <p:nvSpPr>
          <p:cNvPr id="12" name="num-paso"/>
          <p:cNvSpPr txBox="1"/>
          <p:nvPr/>
        </p:nvSpPr>
        <p:spPr>
          <a:xfrm>
            <a:off x="2962656" y="2788920"/>
            <a:ext cx="822960" cy="411480"/>
          </a:xfrm>
          <a:prstGeom prst="rect">
            <a:avLst/>
          </a:prstGeom>
          <a:noFill/>
          <a:ln/>
        </p:spPr>
        <p:txBody>
          <a:bodyPr wrap="square" lIns="0" tIns="0" rIns="0" bIns="0" rtlCol="0" anchor="ctr"/>
          <a:lstStyle/>
          <a:p>
            <a:pPr indent="0" marL="0">
              <a:buNone/>
            </a:pPr>
            <a:r>
              <a:rPr lang="en-US" sz="2600" b="1" dirty="0">
                <a:solidFill>
                  <a:srgbClr val="0F0F0E"/>
                </a:solidFill>
                <a:latin typeface="Arial Narrow" pitchFamily="34" charset="0"/>
                <a:ea typeface="Arial Narrow" pitchFamily="34" charset="-122"/>
                <a:cs typeface="Arial Narrow" pitchFamily="34" charset="-120"/>
              </a:rPr>
              <a:t>3</a:t>
            </a:r>
            <a:endParaRPr lang="en-US" sz="2600" dirty="0"/>
          </a:p>
        </p:txBody>
      </p:sp>
      <p:sp>
        <p:nvSpPr>
          <p:cNvPr id="13" name="texto-paso"/>
          <p:cNvSpPr txBox="1"/>
          <p:nvPr/>
        </p:nvSpPr>
        <p:spPr>
          <a:xfrm>
            <a:off x="2962656" y="3246120"/>
            <a:ext cx="896112" cy="822960"/>
          </a:xfrm>
          <a:prstGeom prst="rect">
            <a:avLst/>
          </a:prstGeom>
          <a:noFill/>
          <a:ln/>
        </p:spPr>
        <p:txBody>
          <a:bodyPr wrap="square" lIns="0" tIns="0" rIns="0" bIns="0" rtlCol="0" anchor="t"/>
          <a:lstStyle/>
          <a:p>
            <a:pPr indent="0" marL="0">
              <a:buNone/>
            </a:pPr>
            <a:r>
              <a:rPr lang="en-US" sz="1100" b="1" dirty="0">
                <a:solidFill>
                  <a:srgbClr val="0F0F0E"/>
                </a:solidFill>
              </a:rPr>
              <a:t>Se mantiene</a:t>
            </a:r>
            <a:endParaRPr lang="en-US" sz="1100" dirty="0"/>
          </a:p>
          <a:p>
            <a:pPr indent="0" marL="0">
              <a:buNone/>
            </a:pPr>
            <a:r>
              <a:rPr lang="en-US" sz="1100" dirty="0">
                <a:solidFill>
                  <a:srgbClr val="5B5B57"/>
                </a:solidFill>
              </a:rPr>
              <a:t>5 % se retira al mes</a:t>
            </a:r>
            <a:endParaRPr lang="en-US" sz="1100" dirty="0"/>
          </a:p>
        </p:txBody>
      </p:sp>
      <p:sp>
        <p:nvSpPr>
          <p:cNvPr id="14" name="paso4"/>
          <p:cNvSpPr/>
          <p:nvPr/>
        </p:nvSpPr>
        <p:spPr>
          <a:xfrm>
            <a:off x="4050792" y="2697480"/>
            <a:ext cx="1069848" cy="1417320"/>
          </a:xfrm>
          <a:prstGeom prst="roundRect">
            <a:avLst>
              <a:gd name="adj" fmla="val 8547"/>
            </a:avLst>
          </a:prstGeom>
          <a:solidFill>
            <a:srgbClr val="0F0F0E"/>
          </a:solidFill>
          <a:ln w="12700">
            <a:solidFill>
              <a:srgbClr val="0F0F0E"/>
            </a:solidFill>
            <a:prstDash val="solid"/>
          </a:ln>
        </p:spPr>
      </p:sp>
      <p:sp>
        <p:nvSpPr>
          <p:cNvPr id="15" name="num-paso"/>
          <p:cNvSpPr txBox="1"/>
          <p:nvPr/>
        </p:nvSpPr>
        <p:spPr>
          <a:xfrm>
            <a:off x="4160520" y="2788920"/>
            <a:ext cx="82296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Narrow" pitchFamily="34" charset="0"/>
                <a:ea typeface="Arial Narrow" pitchFamily="34" charset="-122"/>
                <a:cs typeface="Arial Narrow" pitchFamily="34" charset="-120"/>
              </a:rPr>
              <a:t>4</a:t>
            </a:r>
            <a:endParaRPr lang="en-US" sz="2600" dirty="0"/>
          </a:p>
        </p:txBody>
      </p:sp>
      <p:sp>
        <p:nvSpPr>
          <p:cNvPr id="16" name="texto-paso"/>
          <p:cNvSpPr txBox="1"/>
          <p:nvPr/>
        </p:nvSpPr>
        <p:spPr>
          <a:xfrm>
            <a:off x="4160520" y="3246120"/>
            <a:ext cx="896112" cy="822960"/>
          </a:xfrm>
          <a:prstGeom prst="rect">
            <a:avLst/>
          </a:prstGeom>
          <a:noFill/>
          <a:ln/>
        </p:spPr>
        <p:txBody>
          <a:bodyPr wrap="square" lIns="0" tIns="0" rIns="0" bIns="0" rtlCol="0" anchor="t"/>
          <a:lstStyle/>
          <a:p>
            <a:pPr indent="0" marL="0">
              <a:buNone/>
            </a:pPr>
            <a:r>
              <a:rPr lang="en-US" sz="1100" b="1" dirty="0">
                <a:solidFill>
                  <a:srgbClr val="FFFFFF"/>
                </a:solidFill>
              </a:rPr>
              <a:t>Genera ingreso</a:t>
            </a:r>
            <a:endParaRPr lang="en-US" sz="1100" dirty="0"/>
          </a:p>
          <a:p>
            <a:pPr indent="0" marL="0">
              <a:buNone/>
            </a:pPr>
            <a:r>
              <a:rPr lang="en-US" sz="1100" dirty="0">
                <a:solidFill>
                  <a:srgbClr val="C3C2B7"/>
                </a:solidFill>
              </a:rPr>
              <a:t>Clientes × cuota</a:t>
            </a:r>
            <a:endParaRPr lang="en-US" sz="1100" dirty="0"/>
          </a:p>
        </p:txBody>
      </p:sp>
      <p:sp>
        <p:nvSpPr>
          <p:cNvPr id="17" name="tarjeta"/>
          <p:cNvSpPr/>
          <p:nvPr/>
        </p:nvSpPr>
        <p:spPr>
          <a:xfrm>
            <a:off x="5577840" y="1143000"/>
            <a:ext cx="3108960" cy="1051560"/>
          </a:xfrm>
          <a:prstGeom prst="roundRect">
            <a:avLst>
              <a:gd name="adj" fmla="val 10435"/>
            </a:avLst>
          </a:prstGeom>
          <a:solidFill>
            <a:srgbClr val="F4F4F2"/>
          </a:solidFill>
          <a:ln w="12700">
            <a:solidFill>
              <a:srgbClr val="F4F4F2"/>
            </a:solidFill>
            <a:prstDash val="solid"/>
          </a:ln>
        </p:spPr>
      </p:sp>
      <p:sp>
        <p:nvSpPr>
          <p:cNvPr id="18" name="cifra"/>
          <p:cNvSpPr txBox="1"/>
          <p:nvPr/>
        </p:nvSpPr>
        <p:spPr>
          <a:xfrm>
            <a:off x="5760720" y="1234440"/>
            <a:ext cx="2743200" cy="457200"/>
          </a:xfrm>
          <a:prstGeom prst="rect">
            <a:avLst/>
          </a:prstGeom>
          <a:noFill/>
          <a:ln/>
        </p:spPr>
        <p:txBody>
          <a:bodyPr wrap="square" lIns="0" tIns="0" rIns="0" bIns="0" rtlCol="0" anchor="b"/>
          <a:lstStyle/>
          <a:p>
            <a:pPr indent="0" marL="0">
              <a:buNone/>
            </a:pPr>
            <a:r>
              <a:rPr lang="en-US" sz="3000" b="1" dirty="0">
                <a:solidFill>
                  <a:srgbClr val="0F0F0E"/>
                </a:solidFill>
                <a:latin typeface="Arial Narrow" pitchFamily="34" charset="0"/>
                <a:ea typeface="Arial Narrow" pitchFamily="34" charset="-122"/>
                <a:cs typeface="Arial Narrow" pitchFamily="34" charset="-120"/>
              </a:rPr>
              <a:t>1 mes</a:t>
            </a:r>
            <a:endParaRPr lang="en-US" sz="3000" dirty="0"/>
          </a:p>
        </p:txBody>
      </p:sp>
      <p:sp>
        <p:nvSpPr>
          <p:cNvPr id="19" name="etiqueta"/>
          <p:cNvSpPr txBox="1"/>
          <p:nvPr/>
        </p:nvSpPr>
        <p:spPr>
          <a:xfrm>
            <a:off x="5760720" y="1728216"/>
            <a:ext cx="2743200" cy="393192"/>
          </a:xfrm>
          <a:prstGeom prst="rect">
            <a:avLst/>
          </a:prstGeom>
          <a:noFill/>
          <a:ln/>
        </p:spPr>
        <p:txBody>
          <a:bodyPr wrap="square" lIns="0" tIns="0" rIns="0" bIns="0" rtlCol="0" anchor="t"/>
          <a:lstStyle/>
          <a:p>
            <a:pPr indent="0" marL="0">
              <a:buNone/>
            </a:pPr>
            <a:r>
              <a:rPr lang="en-US" sz="1150" dirty="0">
                <a:solidFill>
                  <a:srgbClr val="5B5B57"/>
                </a:solidFill>
              </a:rPr>
              <a:t>de prueba sin costo para cada negocio</a:t>
            </a:r>
            <a:endParaRPr lang="en-US" sz="1150" dirty="0"/>
          </a:p>
        </p:txBody>
      </p:sp>
      <p:sp>
        <p:nvSpPr>
          <p:cNvPr id="20" name="tarjeta"/>
          <p:cNvSpPr/>
          <p:nvPr/>
        </p:nvSpPr>
        <p:spPr>
          <a:xfrm>
            <a:off x="5577840" y="2331720"/>
            <a:ext cx="3108960" cy="1051560"/>
          </a:xfrm>
          <a:prstGeom prst="roundRect">
            <a:avLst>
              <a:gd name="adj" fmla="val 10435"/>
            </a:avLst>
          </a:prstGeom>
          <a:solidFill>
            <a:srgbClr val="F4F4F2"/>
          </a:solidFill>
          <a:ln w="12700">
            <a:solidFill>
              <a:srgbClr val="F4F4F2"/>
            </a:solidFill>
            <a:prstDash val="solid"/>
          </a:ln>
        </p:spPr>
      </p:sp>
      <p:sp>
        <p:nvSpPr>
          <p:cNvPr id="21" name="cifra"/>
          <p:cNvSpPr txBox="1"/>
          <p:nvPr/>
        </p:nvSpPr>
        <p:spPr>
          <a:xfrm>
            <a:off x="5760720" y="2423160"/>
            <a:ext cx="2743200" cy="457200"/>
          </a:xfrm>
          <a:prstGeom prst="rect">
            <a:avLst/>
          </a:prstGeom>
          <a:noFill/>
          <a:ln/>
        </p:spPr>
        <p:txBody>
          <a:bodyPr wrap="square" lIns="0" tIns="0" rIns="0" bIns="0" rtlCol="0" anchor="b"/>
          <a:lstStyle/>
          <a:p>
            <a:pPr indent="0" marL="0">
              <a:buNone/>
            </a:pPr>
            <a:r>
              <a:rPr lang="en-US" sz="3000" b="1" dirty="0">
                <a:solidFill>
                  <a:srgbClr val="0F0F0E"/>
                </a:solidFill>
                <a:latin typeface="Arial Narrow" pitchFamily="34" charset="0"/>
                <a:ea typeface="Arial Narrow" pitchFamily="34" charset="-122"/>
                <a:cs typeface="Arial Narrow" pitchFamily="34" charset="-120"/>
              </a:rPr>
              <a:t>$12</a:t>
            </a:r>
            <a:endParaRPr lang="en-US" sz="3000" dirty="0"/>
          </a:p>
        </p:txBody>
      </p:sp>
      <p:sp>
        <p:nvSpPr>
          <p:cNvPr id="22" name="etiqueta"/>
          <p:cNvSpPr txBox="1"/>
          <p:nvPr/>
        </p:nvSpPr>
        <p:spPr>
          <a:xfrm>
            <a:off x="5760720" y="2916936"/>
            <a:ext cx="2743200" cy="393192"/>
          </a:xfrm>
          <a:prstGeom prst="rect">
            <a:avLst/>
          </a:prstGeom>
          <a:noFill/>
          <a:ln/>
        </p:spPr>
        <p:txBody>
          <a:bodyPr wrap="square" lIns="0" tIns="0" rIns="0" bIns="0" rtlCol="0" anchor="t"/>
          <a:lstStyle/>
          <a:p>
            <a:pPr indent="0" marL="0">
              <a:buNone/>
            </a:pPr>
            <a:r>
              <a:rPr lang="en-US" sz="1150" dirty="0">
                <a:solidFill>
                  <a:srgbClr val="5B5B57"/>
                </a:solidFill>
              </a:rPr>
              <a:t>cuota mensual fija de la suscripción</a:t>
            </a:r>
            <a:endParaRPr lang="en-US" sz="1150" dirty="0"/>
          </a:p>
        </p:txBody>
      </p:sp>
      <p:sp>
        <p:nvSpPr>
          <p:cNvPr id="23" name="tarjeta"/>
          <p:cNvSpPr/>
          <p:nvPr/>
        </p:nvSpPr>
        <p:spPr>
          <a:xfrm>
            <a:off x="5577840" y="3520440"/>
            <a:ext cx="3108960" cy="1051560"/>
          </a:xfrm>
          <a:prstGeom prst="roundRect">
            <a:avLst>
              <a:gd name="adj" fmla="val 10435"/>
            </a:avLst>
          </a:prstGeom>
          <a:solidFill>
            <a:srgbClr val="0F0F0E"/>
          </a:solidFill>
          <a:ln w="12700">
            <a:solidFill>
              <a:srgbClr val="0F0F0E"/>
            </a:solidFill>
            <a:prstDash val="solid"/>
          </a:ln>
        </p:spPr>
      </p:sp>
      <p:sp>
        <p:nvSpPr>
          <p:cNvPr id="24" name="cifra"/>
          <p:cNvSpPr txBox="1"/>
          <p:nvPr/>
        </p:nvSpPr>
        <p:spPr>
          <a:xfrm>
            <a:off x="5760720" y="3611880"/>
            <a:ext cx="2743200" cy="457200"/>
          </a:xfrm>
          <a:prstGeom prst="rect">
            <a:avLst/>
          </a:prstGeom>
          <a:noFill/>
          <a:ln/>
        </p:spPr>
        <p:txBody>
          <a:bodyPr wrap="square" lIns="0" tIns="0" rIns="0" bIns="0" rtlCol="0" anchor="b"/>
          <a:lstStyle/>
          <a:p>
            <a:pPr indent="0" marL="0">
              <a:buNone/>
            </a:pPr>
            <a:r>
              <a:rPr lang="en-US" sz="3000" b="1" dirty="0">
                <a:solidFill>
                  <a:srgbClr val="FFFFFF"/>
                </a:solidFill>
                <a:latin typeface="Arial Narrow" pitchFamily="34" charset="0"/>
                <a:ea typeface="Arial Narrow" pitchFamily="34" charset="-122"/>
                <a:cs typeface="Arial Narrow" pitchFamily="34" charset="-120"/>
              </a:rPr>
              <a:t>40</a:t>
            </a:r>
            <a:endParaRPr lang="en-US" sz="3000" dirty="0"/>
          </a:p>
        </p:txBody>
      </p:sp>
      <p:sp>
        <p:nvSpPr>
          <p:cNvPr id="25" name="etiqueta"/>
          <p:cNvSpPr txBox="1"/>
          <p:nvPr/>
        </p:nvSpPr>
        <p:spPr>
          <a:xfrm>
            <a:off x="5760720" y="4105656"/>
            <a:ext cx="2743200" cy="393192"/>
          </a:xfrm>
          <a:prstGeom prst="rect">
            <a:avLst/>
          </a:prstGeom>
          <a:noFill/>
          <a:ln/>
        </p:spPr>
        <p:txBody>
          <a:bodyPr wrap="square" lIns="0" tIns="0" rIns="0" bIns="0" rtlCol="0" anchor="t"/>
          <a:lstStyle/>
          <a:p>
            <a:pPr indent="0" marL="0">
              <a:buNone/>
            </a:pPr>
            <a:r>
              <a:rPr lang="en-US" sz="1150" dirty="0">
                <a:solidFill>
                  <a:srgbClr val="C3C2B7"/>
                </a:solidFill>
              </a:rPr>
              <a:t>negocios: meta del primer trimestre</a:t>
            </a:r>
            <a:endParaRPr lang="en-US" sz="115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Arial Narrow" pitchFamily="34" charset="0"/>
                <a:ea typeface="Arial Narrow" pitchFamily="34" charset="-122"/>
                <a:cs typeface="Arial Narrow" pitchFamily="34" charset="-120"/>
              </a:rPr>
              <a:t>LA RUTA EN TRES FASES</a:t>
            </a:r>
            <a:endParaRPr lang="en-US" sz="3000" dirty="0"/>
          </a:p>
        </p:txBody>
      </p:sp>
      <p:sp>
        <p:nvSpPr>
          <p:cNvPr id="3" name="fase1"/>
          <p:cNvSpPr/>
          <p:nvPr/>
        </p:nvSpPr>
        <p:spPr>
          <a:xfrm>
            <a:off x="457200" y="1143000"/>
            <a:ext cx="2651760" cy="3383280"/>
          </a:xfrm>
          <a:prstGeom prst="roundRect">
            <a:avLst>
              <a:gd name="adj" fmla="val 4138"/>
            </a:avLst>
          </a:prstGeom>
          <a:solidFill>
            <a:srgbClr val="F4F4F2"/>
          </a:solidFill>
          <a:ln w="12700">
            <a:solidFill>
              <a:srgbClr val="F4F4F2"/>
            </a:solidFill>
            <a:prstDash val="solid"/>
          </a:ln>
        </p:spPr>
      </p:sp>
      <p:sp>
        <p:nvSpPr>
          <p:cNvPr id="4" name="numero-fase"/>
          <p:cNvSpPr txBox="1"/>
          <p:nvPr/>
        </p:nvSpPr>
        <p:spPr>
          <a:xfrm>
            <a:off x="685800" y="1280160"/>
            <a:ext cx="2194560" cy="640080"/>
          </a:xfrm>
          <a:prstGeom prst="rect">
            <a:avLst/>
          </a:prstGeom>
          <a:noFill/>
          <a:ln/>
        </p:spPr>
        <p:txBody>
          <a:bodyPr wrap="square" lIns="0" tIns="0" rIns="0" bIns="0" rtlCol="0" anchor="t"/>
          <a:lstStyle/>
          <a:p>
            <a:pPr indent="0" marL="0">
              <a:buNone/>
            </a:pPr>
            <a:r>
              <a:rPr lang="en-US" sz="4000" b="1" dirty="0">
                <a:solidFill>
                  <a:srgbClr val="0F0F0E"/>
                </a:solidFill>
                <a:latin typeface="Arial Narrow" pitchFamily="34" charset="0"/>
                <a:ea typeface="Arial Narrow" pitchFamily="34" charset="-122"/>
                <a:cs typeface="Arial Narrow" pitchFamily="34" charset="-120"/>
              </a:rPr>
              <a:t>01</a:t>
            </a:r>
            <a:endParaRPr lang="en-US" sz="4000" dirty="0"/>
          </a:p>
        </p:txBody>
      </p:sp>
      <p:sp>
        <p:nvSpPr>
          <p:cNvPr id="5" name="titulo-fase"/>
          <p:cNvSpPr txBox="1"/>
          <p:nvPr/>
        </p:nvSpPr>
        <p:spPr>
          <a:xfrm>
            <a:off x="685800" y="1920240"/>
            <a:ext cx="2194560" cy="594360"/>
          </a:xfrm>
          <a:prstGeom prst="rect">
            <a:avLst/>
          </a:prstGeom>
          <a:noFill/>
          <a:ln/>
        </p:spPr>
        <p:txBody>
          <a:bodyPr wrap="square" lIns="0" tIns="0" rIns="0" bIns="0" rtlCol="0" anchor="t"/>
          <a:lstStyle/>
          <a:p>
            <a:pPr indent="0" marL="0">
              <a:buNone/>
            </a:pPr>
            <a:r>
              <a:rPr lang="en-US" sz="1900" b="1" dirty="0">
                <a:solidFill>
                  <a:srgbClr val="0F0F0E"/>
                </a:solidFill>
                <a:latin typeface="Arial Narrow" pitchFamily="34" charset="0"/>
                <a:ea typeface="Arial Narrow" pitchFamily="34" charset="-122"/>
                <a:cs typeface="Arial Narrow" pitchFamily="34" charset="-120"/>
              </a:rPr>
              <a:t>ESTRUCTURA BASE</a:t>
            </a:r>
            <a:endParaRPr lang="en-US" sz="1900" dirty="0"/>
          </a:p>
        </p:txBody>
      </p:sp>
      <p:sp>
        <p:nvSpPr>
          <p:cNvPr id="6" name="periodo"/>
          <p:cNvSpPr txBox="1"/>
          <p:nvPr/>
        </p:nvSpPr>
        <p:spPr>
          <a:xfrm>
            <a:off x="685800" y="2560320"/>
            <a:ext cx="2194560" cy="365760"/>
          </a:xfrm>
          <a:prstGeom prst="rect">
            <a:avLst/>
          </a:prstGeom>
          <a:noFill/>
          <a:ln/>
        </p:spPr>
        <p:txBody>
          <a:bodyPr wrap="square" lIns="0" tIns="0" rIns="0" bIns="0" rtlCol="0" anchor="t"/>
          <a:lstStyle/>
          <a:p>
            <a:pPr indent="0" marL="0">
              <a:buNone/>
            </a:pPr>
            <a:r>
              <a:rPr lang="en-US" sz="1100" dirty="0">
                <a:solidFill>
                  <a:srgbClr val="5B5B57"/>
                </a:solidFill>
              </a:rPr>
              <a:t>Octubre a diciembre de 2026</a:t>
            </a:r>
            <a:endParaRPr lang="en-US" sz="1100" dirty="0"/>
          </a:p>
        </p:txBody>
      </p:sp>
      <p:sp>
        <p:nvSpPr>
          <p:cNvPr id="7" name="enfoque"/>
          <p:cNvSpPr txBox="1"/>
          <p:nvPr/>
        </p:nvSpPr>
        <p:spPr>
          <a:xfrm>
            <a:off x="685800" y="2971800"/>
            <a:ext cx="2194560" cy="1005840"/>
          </a:xfrm>
          <a:prstGeom prst="rect">
            <a:avLst/>
          </a:prstGeom>
          <a:noFill/>
          <a:ln/>
        </p:spPr>
        <p:txBody>
          <a:bodyPr wrap="square" lIns="0" tIns="0" rIns="0" bIns="0" rtlCol="0" anchor="t"/>
          <a:lstStyle/>
          <a:p>
            <a:pPr indent="0" marL="0">
              <a:buNone/>
            </a:pPr>
            <a:r>
              <a:rPr lang="en-US" sz="1250" dirty="0">
                <a:solidFill>
                  <a:srgbClr val="0F0F0E"/>
                </a:solidFill>
              </a:rPr>
              <a:t>Costos mínimos, presupuestados como montos mensuales, para arrancar y validar el mercado.</a:t>
            </a:r>
            <a:endParaRPr lang="en-US" sz="1250" dirty="0"/>
          </a:p>
        </p:txBody>
      </p:sp>
      <p:sp>
        <p:nvSpPr>
          <p:cNvPr id="8" name="herramienta"/>
          <p:cNvSpPr txBox="1"/>
          <p:nvPr/>
        </p:nvSpPr>
        <p:spPr>
          <a:xfrm>
            <a:off x="685800" y="4023360"/>
            <a:ext cx="2194560" cy="320040"/>
          </a:xfrm>
          <a:prstGeom prst="rect">
            <a:avLst/>
          </a:prstGeom>
          <a:noFill/>
          <a:ln/>
        </p:spPr>
        <p:txBody>
          <a:bodyPr wrap="square" lIns="0" tIns="0" rIns="0" bIns="0" rtlCol="0" anchor="ctr"/>
          <a:lstStyle/>
          <a:p>
            <a:pPr indent="0" marL="0">
              <a:buNone/>
            </a:pPr>
            <a:r>
              <a:rPr lang="en-US" sz="1050" b="1" spc="200" kern="0" dirty="0">
                <a:solidFill>
                  <a:srgbClr val="2A78D6"/>
                </a:solidFill>
              </a:rPr>
              <a:t>PRESUPUESTO ESTÁTICO</a:t>
            </a:r>
            <a:endParaRPr lang="en-US" sz="1050" dirty="0"/>
          </a:p>
        </p:txBody>
      </p:sp>
      <p:sp>
        <p:nvSpPr>
          <p:cNvPr id="9" name="fase2"/>
          <p:cNvSpPr/>
          <p:nvPr/>
        </p:nvSpPr>
        <p:spPr>
          <a:xfrm>
            <a:off x="3291840" y="1143000"/>
            <a:ext cx="2651760" cy="3383280"/>
          </a:xfrm>
          <a:prstGeom prst="roundRect">
            <a:avLst>
              <a:gd name="adj" fmla="val 4138"/>
            </a:avLst>
          </a:prstGeom>
          <a:solidFill>
            <a:srgbClr val="F4F4F2"/>
          </a:solidFill>
          <a:ln w="12700">
            <a:solidFill>
              <a:srgbClr val="F4F4F2"/>
            </a:solidFill>
            <a:prstDash val="solid"/>
          </a:ln>
        </p:spPr>
      </p:sp>
      <p:sp>
        <p:nvSpPr>
          <p:cNvPr id="10" name="numero-fase"/>
          <p:cNvSpPr txBox="1"/>
          <p:nvPr/>
        </p:nvSpPr>
        <p:spPr>
          <a:xfrm>
            <a:off x="3520440" y="1280160"/>
            <a:ext cx="2194560" cy="640080"/>
          </a:xfrm>
          <a:prstGeom prst="rect">
            <a:avLst/>
          </a:prstGeom>
          <a:noFill/>
          <a:ln/>
        </p:spPr>
        <p:txBody>
          <a:bodyPr wrap="square" lIns="0" tIns="0" rIns="0" bIns="0" rtlCol="0" anchor="t"/>
          <a:lstStyle/>
          <a:p>
            <a:pPr indent="0" marL="0">
              <a:buNone/>
            </a:pPr>
            <a:r>
              <a:rPr lang="en-US" sz="4000" b="1" dirty="0">
                <a:solidFill>
                  <a:srgbClr val="0F0F0E"/>
                </a:solidFill>
                <a:latin typeface="Arial Narrow" pitchFamily="34" charset="0"/>
                <a:ea typeface="Arial Narrow" pitchFamily="34" charset="-122"/>
                <a:cs typeface="Arial Narrow" pitchFamily="34" charset="-120"/>
              </a:rPr>
              <a:t>02</a:t>
            </a:r>
            <a:endParaRPr lang="en-US" sz="4000" dirty="0"/>
          </a:p>
        </p:txBody>
      </p:sp>
      <p:sp>
        <p:nvSpPr>
          <p:cNvPr id="11" name="titulo-fase"/>
          <p:cNvSpPr txBox="1"/>
          <p:nvPr/>
        </p:nvSpPr>
        <p:spPr>
          <a:xfrm>
            <a:off x="3520440" y="1920240"/>
            <a:ext cx="2194560" cy="594360"/>
          </a:xfrm>
          <a:prstGeom prst="rect">
            <a:avLst/>
          </a:prstGeom>
          <a:noFill/>
          <a:ln/>
        </p:spPr>
        <p:txBody>
          <a:bodyPr wrap="square" lIns="0" tIns="0" rIns="0" bIns="0" rtlCol="0" anchor="t"/>
          <a:lstStyle/>
          <a:p>
            <a:pPr indent="0" marL="0">
              <a:buNone/>
            </a:pPr>
            <a:r>
              <a:rPr lang="en-US" sz="1900" b="1" dirty="0">
                <a:solidFill>
                  <a:srgbClr val="0F0F0E"/>
                </a:solidFill>
                <a:latin typeface="Arial Narrow" pitchFamily="34" charset="0"/>
                <a:ea typeface="Arial Narrow" pitchFamily="34" charset="-122"/>
                <a:cs typeface="Arial Narrow" pitchFamily="34" charset="-120"/>
              </a:rPr>
              <a:t>ANÁLISIS Y AJUSTES</a:t>
            </a:r>
            <a:endParaRPr lang="en-US" sz="1900" dirty="0"/>
          </a:p>
        </p:txBody>
      </p:sp>
      <p:sp>
        <p:nvSpPr>
          <p:cNvPr id="12" name="periodo"/>
          <p:cNvSpPr txBox="1"/>
          <p:nvPr/>
        </p:nvSpPr>
        <p:spPr>
          <a:xfrm>
            <a:off x="3520440" y="2560320"/>
            <a:ext cx="2194560" cy="365760"/>
          </a:xfrm>
          <a:prstGeom prst="rect">
            <a:avLst/>
          </a:prstGeom>
          <a:noFill/>
          <a:ln/>
        </p:spPr>
        <p:txBody>
          <a:bodyPr wrap="square" lIns="0" tIns="0" rIns="0" bIns="0" rtlCol="0" anchor="t"/>
          <a:lstStyle/>
          <a:p>
            <a:pPr indent="0" marL="0">
              <a:buNone/>
            </a:pPr>
            <a:r>
              <a:rPr lang="en-US" sz="1100" dirty="0">
                <a:solidFill>
                  <a:srgbClr val="5B5B57"/>
                </a:solidFill>
              </a:rPr>
              <a:t>Enero a septiembre de 2027</a:t>
            </a:r>
            <a:endParaRPr lang="en-US" sz="1100" dirty="0"/>
          </a:p>
        </p:txBody>
      </p:sp>
      <p:sp>
        <p:nvSpPr>
          <p:cNvPr id="13" name="enfoque"/>
          <p:cNvSpPr txBox="1"/>
          <p:nvPr/>
        </p:nvSpPr>
        <p:spPr>
          <a:xfrm>
            <a:off x="3520440" y="2971800"/>
            <a:ext cx="2194560" cy="1005840"/>
          </a:xfrm>
          <a:prstGeom prst="rect">
            <a:avLst/>
          </a:prstGeom>
          <a:noFill/>
          <a:ln/>
        </p:spPr>
        <p:txBody>
          <a:bodyPr wrap="square" lIns="0" tIns="0" rIns="0" bIns="0" rtlCol="0" anchor="t"/>
          <a:lstStyle/>
          <a:p>
            <a:pPr indent="0" marL="0">
              <a:buNone/>
            </a:pPr>
            <a:r>
              <a:rPr lang="en-US" sz="1250" dirty="0">
                <a:solidFill>
                  <a:srgbClr val="0F0F0E"/>
                </a:solidFill>
              </a:rPr>
              <a:t>Con los datos del trimestre se clasifican los costos en fijos y variables y se mide el costo por cliente.</a:t>
            </a:r>
            <a:endParaRPr lang="en-US" sz="1250" dirty="0"/>
          </a:p>
        </p:txBody>
      </p:sp>
      <p:sp>
        <p:nvSpPr>
          <p:cNvPr id="14" name="herramienta"/>
          <p:cNvSpPr txBox="1"/>
          <p:nvPr/>
        </p:nvSpPr>
        <p:spPr>
          <a:xfrm>
            <a:off x="3520440" y="4023360"/>
            <a:ext cx="2194560" cy="320040"/>
          </a:xfrm>
          <a:prstGeom prst="rect">
            <a:avLst/>
          </a:prstGeom>
          <a:noFill/>
          <a:ln/>
        </p:spPr>
        <p:txBody>
          <a:bodyPr wrap="square" lIns="0" tIns="0" rIns="0" bIns="0" rtlCol="0" anchor="ctr"/>
          <a:lstStyle/>
          <a:p>
            <a:pPr indent="0" marL="0">
              <a:buNone/>
            </a:pPr>
            <a:r>
              <a:rPr lang="en-US" sz="1050" b="1" spc="200" kern="0" dirty="0">
                <a:solidFill>
                  <a:srgbClr val="2A78D6"/>
                </a:solidFill>
              </a:rPr>
              <a:t>PRESUPUESTO FLEXIBLE Y CVU</a:t>
            </a:r>
            <a:endParaRPr lang="en-US" sz="1050" dirty="0"/>
          </a:p>
        </p:txBody>
      </p:sp>
      <p:sp>
        <p:nvSpPr>
          <p:cNvPr id="15" name="fase3"/>
          <p:cNvSpPr/>
          <p:nvPr/>
        </p:nvSpPr>
        <p:spPr>
          <a:xfrm>
            <a:off x="6126480" y="1143000"/>
            <a:ext cx="2651760" cy="3383280"/>
          </a:xfrm>
          <a:prstGeom prst="roundRect">
            <a:avLst>
              <a:gd name="adj" fmla="val 4138"/>
            </a:avLst>
          </a:prstGeom>
          <a:solidFill>
            <a:srgbClr val="0F0F0E"/>
          </a:solidFill>
          <a:ln w="12700">
            <a:solidFill>
              <a:srgbClr val="0F0F0E"/>
            </a:solidFill>
            <a:prstDash val="solid"/>
          </a:ln>
        </p:spPr>
      </p:sp>
      <p:sp>
        <p:nvSpPr>
          <p:cNvPr id="16" name="numero-fase"/>
          <p:cNvSpPr txBox="1"/>
          <p:nvPr/>
        </p:nvSpPr>
        <p:spPr>
          <a:xfrm>
            <a:off x="6355080" y="1280160"/>
            <a:ext cx="2194560" cy="640080"/>
          </a:xfrm>
          <a:prstGeom prst="rect">
            <a:avLst/>
          </a:prstGeom>
          <a:noFill/>
          <a:ln/>
        </p:spPr>
        <p:txBody>
          <a:bodyPr wrap="square" lIns="0" tIns="0" rIns="0" bIns="0" rtlCol="0" anchor="t"/>
          <a:lstStyle/>
          <a:p>
            <a:pPr indent="0" marL="0">
              <a:buNone/>
            </a:pPr>
            <a:r>
              <a:rPr lang="en-US" sz="4000" b="1" dirty="0">
                <a:solidFill>
                  <a:srgbClr val="FFFFFF"/>
                </a:solidFill>
                <a:latin typeface="Arial Narrow" pitchFamily="34" charset="0"/>
                <a:ea typeface="Arial Narrow" pitchFamily="34" charset="-122"/>
                <a:cs typeface="Arial Narrow" pitchFamily="34" charset="-120"/>
              </a:rPr>
              <a:t>03</a:t>
            </a:r>
            <a:endParaRPr lang="en-US" sz="4000" dirty="0"/>
          </a:p>
        </p:txBody>
      </p:sp>
      <p:sp>
        <p:nvSpPr>
          <p:cNvPr id="17" name="titulo-fase"/>
          <p:cNvSpPr txBox="1"/>
          <p:nvPr/>
        </p:nvSpPr>
        <p:spPr>
          <a:xfrm>
            <a:off x="6355080" y="1920240"/>
            <a:ext cx="2194560" cy="594360"/>
          </a:xfrm>
          <a:prstGeom prst="rect">
            <a:avLst/>
          </a:prstGeom>
          <a:noFill/>
          <a:ln/>
        </p:spPr>
        <p:txBody>
          <a:bodyPr wrap="square" lIns="0" tIns="0" rIns="0" bIns="0" rtlCol="0" anchor="t"/>
          <a:lstStyle/>
          <a:p>
            <a:pPr indent="0" marL="0">
              <a:buNone/>
            </a:pPr>
            <a:r>
              <a:rPr lang="en-US" sz="1900" b="1" dirty="0">
                <a:solidFill>
                  <a:srgbClr val="FFFFFF"/>
                </a:solidFill>
                <a:latin typeface="Arial Narrow" pitchFamily="34" charset="0"/>
                <a:ea typeface="Arial Narrow" pitchFamily="34" charset="-122"/>
                <a:cs typeface="Arial Narrow" pitchFamily="34" charset="-120"/>
              </a:rPr>
              <a:t>ESTRUCTURA OBJETIVO</a:t>
            </a:r>
            <a:endParaRPr lang="en-US" sz="1900" dirty="0"/>
          </a:p>
        </p:txBody>
      </p:sp>
      <p:sp>
        <p:nvSpPr>
          <p:cNvPr id="18" name="periodo"/>
          <p:cNvSpPr txBox="1"/>
          <p:nvPr/>
        </p:nvSpPr>
        <p:spPr>
          <a:xfrm>
            <a:off x="6355080" y="2560320"/>
            <a:ext cx="2194560" cy="365760"/>
          </a:xfrm>
          <a:prstGeom prst="rect">
            <a:avLst/>
          </a:prstGeom>
          <a:noFill/>
          <a:ln/>
        </p:spPr>
        <p:txBody>
          <a:bodyPr wrap="square" lIns="0" tIns="0" rIns="0" bIns="0" rtlCol="0" anchor="t"/>
          <a:lstStyle/>
          <a:p>
            <a:pPr indent="0" marL="0">
              <a:buNone/>
            </a:pPr>
            <a:r>
              <a:rPr lang="en-US" sz="1100" dirty="0">
                <a:solidFill>
                  <a:srgbClr val="C3C2B7"/>
                </a:solidFill>
              </a:rPr>
              <a:t>Octubre de 2027 a septiembre de 2028</a:t>
            </a:r>
            <a:endParaRPr lang="en-US" sz="1100" dirty="0"/>
          </a:p>
        </p:txBody>
      </p:sp>
      <p:sp>
        <p:nvSpPr>
          <p:cNvPr id="19" name="enfoque"/>
          <p:cNvSpPr txBox="1"/>
          <p:nvPr/>
        </p:nvSpPr>
        <p:spPr>
          <a:xfrm>
            <a:off x="6355080" y="2971800"/>
            <a:ext cx="2194560" cy="1005840"/>
          </a:xfrm>
          <a:prstGeom prst="rect">
            <a:avLst/>
          </a:prstGeom>
          <a:noFill/>
          <a:ln/>
        </p:spPr>
        <p:txBody>
          <a:bodyPr wrap="square" lIns="0" tIns="0" rIns="0" bIns="0" rtlCol="0" anchor="t"/>
          <a:lstStyle/>
          <a:p>
            <a:pPr indent="0" marL="0">
              <a:buNone/>
            </a:pPr>
            <a:r>
              <a:rPr lang="en-US" sz="1250" dirty="0">
                <a:solidFill>
                  <a:srgbClr val="FFFFFF"/>
                </a:solidFill>
              </a:rPr>
              <a:t>Estructura completa: remuneración de la dirección, servicios contables y procesos más eficientes.</a:t>
            </a:r>
            <a:endParaRPr lang="en-US" sz="1250" dirty="0"/>
          </a:p>
        </p:txBody>
      </p:sp>
      <p:sp>
        <p:nvSpPr>
          <p:cNvPr id="20" name="herramienta"/>
          <p:cNvSpPr txBox="1"/>
          <p:nvPr/>
        </p:nvSpPr>
        <p:spPr>
          <a:xfrm>
            <a:off x="6355080" y="4023360"/>
            <a:ext cx="2194560" cy="320040"/>
          </a:xfrm>
          <a:prstGeom prst="rect">
            <a:avLst/>
          </a:prstGeom>
          <a:noFill/>
          <a:ln/>
        </p:spPr>
        <p:txBody>
          <a:bodyPr wrap="square" lIns="0" tIns="0" rIns="0" bIns="0" rtlCol="0" anchor="ctr"/>
          <a:lstStyle/>
          <a:p>
            <a:pPr indent="0" marL="0">
              <a:buNone/>
            </a:pPr>
            <a:r>
              <a:rPr lang="en-US" sz="1050" b="1" spc="200" kern="0" dirty="0">
                <a:solidFill>
                  <a:srgbClr val="FFFFFF"/>
                </a:solidFill>
              </a:rPr>
              <a:t>COSTEO POR ACTIVIDADES</a:t>
            </a:r>
            <a:endParaRPr lang="en-US" sz="105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Arial Narrow" pitchFamily="34" charset="0"/>
                <a:ea typeface="Arial Narrow" pitchFamily="34" charset="-122"/>
                <a:cs typeface="Arial Narrow" pitchFamily="34" charset="-120"/>
              </a:rPr>
              <a:t>FASE 2: COSTOS FIJOS Y VARIABLES</a:t>
            </a:r>
            <a:endParaRPr lang="en-US" sz="3000" dirty="0"/>
          </a:p>
        </p:txBody>
      </p:sp>
      <p:graphicFrame>
        <p:nvGraphicFramePr>
          <p:cNvPr id="3" name="grafico-fase2" descr=""/>
          <p:cNvGraphicFramePr/>
          <p:nvPr/>
        </p:nvGraphicFramePr>
        <p:xfrm>
          <a:off x="365760" y="1051560"/>
          <a:ext cx="4937760" cy="3520440"/>
        </p:xfrm>
        <a:graphic xmlns:a="http://schemas.openxmlformats.org/drawingml/2006/main">
          <a:graphicData uri="http://schemas.openxmlformats.org/drawingml/2006/chart">
            <c:chart xmlns:c="http://schemas.openxmlformats.org/drawingml/2006/chart" r:id="rId1"/>
          </a:graphicData>
        </a:graphic>
      </p:graphicFrame>
      <p:sp>
        <p:nvSpPr>
          <p:cNvPr id="4" name="tarjeta"/>
          <p:cNvSpPr/>
          <p:nvPr/>
        </p:nvSpPr>
        <p:spPr>
          <a:xfrm>
            <a:off x="5577840" y="1143000"/>
            <a:ext cx="3108960" cy="1051560"/>
          </a:xfrm>
          <a:prstGeom prst="roundRect">
            <a:avLst>
              <a:gd name="adj" fmla="val 10435"/>
            </a:avLst>
          </a:prstGeom>
          <a:solidFill>
            <a:srgbClr val="F4F4F2"/>
          </a:solidFill>
          <a:ln w="12700">
            <a:solidFill>
              <a:srgbClr val="F4F4F2"/>
            </a:solidFill>
            <a:prstDash val="solid"/>
          </a:ln>
        </p:spPr>
      </p:sp>
      <p:sp>
        <p:nvSpPr>
          <p:cNvPr id="5" name="cifra"/>
          <p:cNvSpPr txBox="1"/>
          <p:nvPr/>
        </p:nvSpPr>
        <p:spPr>
          <a:xfrm>
            <a:off x="5760720" y="1234440"/>
            <a:ext cx="2743200" cy="457200"/>
          </a:xfrm>
          <a:prstGeom prst="rect">
            <a:avLst/>
          </a:prstGeom>
          <a:noFill/>
          <a:ln/>
        </p:spPr>
        <p:txBody>
          <a:bodyPr wrap="square" lIns="0" tIns="0" rIns="0" bIns="0" rtlCol="0" anchor="b"/>
          <a:lstStyle/>
          <a:p>
            <a:pPr indent="0" marL="0">
              <a:buNone/>
            </a:pPr>
            <a:r>
              <a:rPr lang="en-US" sz="3000" b="1" dirty="0">
                <a:solidFill>
                  <a:srgbClr val="0F0F0E"/>
                </a:solidFill>
                <a:latin typeface="Arial Narrow" pitchFamily="34" charset="0"/>
                <a:ea typeface="Arial Narrow" pitchFamily="34" charset="-122"/>
                <a:cs typeface="Arial Narrow" pitchFamily="34" charset="-120"/>
              </a:rPr>
              <a:t>$9,89</a:t>
            </a:r>
            <a:endParaRPr lang="en-US" sz="3000" dirty="0"/>
          </a:p>
        </p:txBody>
      </p:sp>
      <p:sp>
        <p:nvSpPr>
          <p:cNvPr id="6" name="etiqueta"/>
          <p:cNvSpPr txBox="1"/>
          <p:nvPr/>
        </p:nvSpPr>
        <p:spPr>
          <a:xfrm>
            <a:off x="5760720" y="1728216"/>
            <a:ext cx="2743200" cy="393192"/>
          </a:xfrm>
          <a:prstGeom prst="rect">
            <a:avLst/>
          </a:prstGeom>
          <a:noFill/>
          <a:ln/>
        </p:spPr>
        <p:txBody>
          <a:bodyPr wrap="square" lIns="0" tIns="0" rIns="0" bIns="0" rtlCol="0" anchor="t"/>
          <a:lstStyle/>
          <a:p>
            <a:pPr indent="0" marL="0">
              <a:buNone/>
            </a:pPr>
            <a:r>
              <a:rPr lang="en-US" sz="1150" dirty="0">
                <a:solidFill>
                  <a:srgbClr val="5B5B57"/>
                </a:solidFill>
              </a:rPr>
              <a:t>margen de contribución por cliente (82 % de la cuota)</a:t>
            </a:r>
            <a:endParaRPr lang="en-US" sz="1150" dirty="0"/>
          </a:p>
        </p:txBody>
      </p:sp>
      <p:sp>
        <p:nvSpPr>
          <p:cNvPr id="7" name="tarjeta"/>
          <p:cNvSpPr/>
          <p:nvPr/>
        </p:nvSpPr>
        <p:spPr>
          <a:xfrm>
            <a:off x="5577840" y="2331720"/>
            <a:ext cx="3108960" cy="1051560"/>
          </a:xfrm>
          <a:prstGeom prst="roundRect">
            <a:avLst>
              <a:gd name="adj" fmla="val 10435"/>
            </a:avLst>
          </a:prstGeom>
          <a:solidFill>
            <a:srgbClr val="F4F4F2"/>
          </a:solidFill>
          <a:ln w="12700">
            <a:solidFill>
              <a:srgbClr val="F4F4F2"/>
            </a:solidFill>
            <a:prstDash val="solid"/>
          </a:ln>
        </p:spPr>
      </p:sp>
      <p:sp>
        <p:nvSpPr>
          <p:cNvPr id="8" name="cifra"/>
          <p:cNvSpPr txBox="1"/>
          <p:nvPr/>
        </p:nvSpPr>
        <p:spPr>
          <a:xfrm>
            <a:off x="5760720" y="2423160"/>
            <a:ext cx="2743200" cy="457200"/>
          </a:xfrm>
          <a:prstGeom prst="rect">
            <a:avLst/>
          </a:prstGeom>
          <a:noFill/>
          <a:ln/>
        </p:spPr>
        <p:txBody>
          <a:bodyPr wrap="square" lIns="0" tIns="0" rIns="0" bIns="0" rtlCol="0" anchor="b"/>
          <a:lstStyle/>
          <a:p>
            <a:pPr indent="0" marL="0">
              <a:buNone/>
            </a:pPr>
            <a:r>
              <a:rPr lang="en-US" sz="3000" b="1" dirty="0">
                <a:solidFill>
                  <a:srgbClr val="0F0F0E"/>
                </a:solidFill>
                <a:latin typeface="Arial Narrow" pitchFamily="34" charset="0"/>
                <a:ea typeface="Arial Narrow" pitchFamily="34" charset="-122"/>
                <a:cs typeface="Arial Narrow" pitchFamily="34" charset="-120"/>
              </a:rPr>
              <a:t>34</a:t>
            </a:r>
            <a:endParaRPr lang="en-US" sz="3000" dirty="0"/>
          </a:p>
        </p:txBody>
      </p:sp>
      <p:sp>
        <p:nvSpPr>
          <p:cNvPr id="9" name="etiqueta"/>
          <p:cNvSpPr txBox="1"/>
          <p:nvPr/>
        </p:nvSpPr>
        <p:spPr>
          <a:xfrm>
            <a:off x="5760720" y="2916936"/>
            <a:ext cx="2743200" cy="393192"/>
          </a:xfrm>
          <a:prstGeom prst="rect">
            <a:avLst/>
          </a:prstGeom>
          <a:noFill/>
          <a:ln/>
        </p:spPr>
        <p:txBody>
          <a:bodyPr wrap="square" lIns="0" tIns="0" rIns="0" bIns="0" rtlCol="0" anchor="t"/>
          <a:lstStyle/>
          <a:p>
            <a:pPr indent="0" marL="0">
              <a:buNone/>
            </a:pPr>
            <a:r>
              <a:rPr lang="en-US" sz="1150" dirty="0">
                <a:solidFill>
                  <a:srgbClr val="5B5B57"/>
                </a:solidFill>
              </a:rPr>
              <a:t>negocios: punto de equilibrio con crecimiento (escenario base)</a:t>
            </a:r>
            <a:endParaRPr lang="en-US" sz="1150" dirty="0"/>
          </a:p>
        </p:txBody>
      </p:sp>
      <p:sp>
        <p:nvSpPr>
          <p:cNvPr id="10" name="tarjeta"/>
          <p:cNvSpPr/>
          <p:nvPr/>
        </p:nvSpPr>
        <p:spPr>
          <a:xfrm>
            <a:off x="5577840" y="3520440"/>
            <a:ext cx="3108960" cy="1051560"/>
          </a:xfrm>
          <a:prstGeom prst="roundRect">
            <a:avLst>
              <a:gd name="adj" fmla="val 10435"/>
            </a:avLst>
          </a:prstGeom>
          <a:solidFill>
            <a:srgbClr val="0F0F0E"/>
          </a:solidFill>
          <a:ln w="12700">
            <a:solidFill>
              <a:srgbClr val="0F0F0E"/>
            </a:solidFill>
            <a:prstDash val="solid"/>
          </a:ln>
        </p:spPr>
      </p:sp>
      <p:sp>
        <p:nvSpPr>
          <p:cNvPr id="11" name="cifra"/>
          <p:cNvSpPr txBox="1"/>
          <p:nvPr/>
        </p:nvSpPr>
        <p:spPr>
          <a:xfrm>
            <a:off x="5760720" y="3611880"/>
            <a:ext cx="2743200" cy="457200"/>
          </a:xfrm>
          <a:prstGeom prst="rect">
            <a:avLst/>
          </a:prstGeom>
          <a:noFill/>
          <a:ln/>
        </p:spPr>
        <p:txBody>
          <a:bodyPr wrap="square" lIns="0" tIns="0" rIns="0" bIns="0" rtlCol="0" anchor="b"/>
          <a:lstStyle/>
          <a:p>
            <a:pPr indent="0" marL="0">
              <a:buNone/>
            </a:pPr>
            <a:r>
              <a:rPr lang="en-US" sz="3000" b="1" dirty="0">
                <a:solidFill>
                  <a:srgbClr val="FFFFFF"/>
                </a:solidFill>
                <a:latin typeface="Arial Narrow" pitchFamily="34" charset="0"/>
                <a:ea typeface="Arial Narrow" pitchFamily="34" charset="-122"/>
                <a:cs typeface="Arial Narrow" pitchFamily="34" charset="-120"/>
              </a:rPr>
              <a:t>GAO 6,6</a:t>
            </a:r>
            <a:endParaRPr lang="en-US" sz="3000" dirty="0"/>
          </a:p>
        </p:txBody>
      </p:sp>
      <p:sp>
        <p:nvSpPr>
          <p:cNvPr id="12" name="etiqueta"/>
          <p:cNvSpPr txBox="1"/>
          <p:nvPr/>
        </p:nvSpPr>
        <p:spPr>
          <a:xfrm>
            <a:off x="5760720" y="4105656"/>
            <a:ext cx="2743200" cy="393192"/>
          </a:xfrm>
          <a:prstGeom prst="rect">
            <a:avLst/>
          </a:prstGeom>
          <a:noFill/>
          <a:ln/>
        </p:spPr>
        <p:txBody>
          <a:bodyPr wrap="square" lIns="0" tIns="0" rIns="0" bIns="0" rtlCol="0" anchor="t"/>
          <a:lstStyle/>
          <a:p>
            <a:pPr indent="0" marL="0">
              <a:buNone/>
            </a:pPr>
            <a:r>
              <a:rPr lang="en-US" sz="1150" dirty="0">
                <a:solidFill>
                  <a:srgbClr val="C3C2B7"/>
                </a:solidFill>
              </a:rPr>
              <a:t>escenario conservador: opera cerca del equilibrio</a:t>
            </a:r>
            <a:endParaRPr lang="en-US" sz="115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Arial Narrow" pitchFamily="34" charset="0"/>
                <a:ea typeface="Arial Narrow" pitchFamily="34" charset="-122"/>
                <a:cs typeface="Arial Narrow" pitchFamily="34" charset="-120"/>
              </a:rPr>
              <a:t>FASE 3: LA ESTRUCTURA OBJETIVO</a:t>
            </a:r>
            <a:endParaRPr lang="en-US" sz="3000" dirty="0"/>
          </a:p>
        </p:txBody>
      </p:sp>
      <p:sp>
        <p:nvSpPr>
          <p:cNvPr id="3" name="kicker"/>
          <p:cNvSpPr txBox="1"/>
          <p:nvPr/>
        </p:nvSpPr>
        <p:spPr>
          <a:xfrm>
            <a:off x="457200" y="1143000"/>
            <a:ext cx="3840480" cy="256032"/>
          </a:xfrm>
          <a:prstGeom prst="rect">
            <a:avLst/>
          </a:prstGeom>
          <a:noFill/>
          <a:ln/>
        </p:spPr>
        <p:txBody>
          <a:bodyPr wrap="square" lIns="0" tIns="0" rIns="0" bIns="0" rtlCol="0" anchor="ctr"/>
          <a:lstStyle/>
          <a:p>
            <a:pPr indent="0" marL="0">
              <a:buNone/>
            </a:pPr>
            <a:r>
              <a:rPr lang="en-US" sz="1100" b="1" spc="300" kern="0" dirty="0">
                <a:solidFill>
                  <a:srgbClr val="EB6834"/>
                </a:solidFill>
              </a:rPr>
              <a:t>COSTOS VARIABLES</a:t>
            </a:r>
            <a:endParaRPr lang="en-US" sz="1100" dirty="0"/>
          </a:p>
        </p:txBody>
      </p:sp>
      <p:sp>
        <p:nvSpPr>
          <p:cNvPr id="4" name="lista-variables"/>
          <p:cNvSpPr txBox="1"/>
          <p:nvPr/>
        </p:nvSpPr>
        <p:spPr>
          <a:xfrm>
            <a:off x="457200" y="1417320"/>
            <a:ext cx="384048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0F0E"/>
                </a:solidFill>
              </a:rPr>
              <a:t>Incorporación asistida de cada negocio</a:t>
            </a:r>
            <a:endParaRPr lang="en-US" sz="1300" dirty="0"/>
          </a:p>
          <a:p>
            <a:pPr marL="342900" indent="-342900">
              <a:spcAft>
                <a:spcPts val="400"/>
              </a:spcAft>
              <a:buSzPct val="100000"/>
              <a:buChar char="•"/>
            </a:pPr>
            <a:r>
              <a:rPr lang="en-US" sz="1300" dirty="0">
                <a:solidFill>
                  <a:srgbClr val="0F0F0E"/>
                </a:solidFill>
              </a:rPr>
              <a:t>Visitas comerciales selectivas</a:t>
            </a:r>
            <a:endParaRPr lang="en-US" sz="1300" dirty="0"/>
          </a:p>
          <a:p>
            <a:pPr marL="342900" indent="-342900">
              <a:spcAft>
                <a:spcPts val="400"/>
              </a:spcAft>
              <a:buSzPct val="100000"/>
              <a:buChar char="•"/>
            </a:pPr>
            <a:r>
              <a:rPr lang="en-US" sz="1300" dirty="0">
                <a:solidFill>
                  <a:srgbClr val="0F0F0E"/>
                </a:solidFill>
              </a:rPr>
              <a:t>Atención y soporte por cliente activo</a:t>
            </a:r>
            <a:endParaRPr lang="en-US" sz="1300" dirty="0"/>
          </a:p>
          <a:p>
            <a:pPr marL="342900" indent="-342900">
              <a:spcAft>
                <a:spcPts val="400"/>
              </a:spcAft>
              <a:buSzPct val="100000"/>
              <a:buChar char="•"/>
            </a:pPr>
            <a:r>
              <a:rPr lang="en-US" sz="1300" dirty="0">
                <a:solidFill>
                  <a:srgbClr val="0F0F0E"/>
                </a:solidFill>
              </a:rPr>
              <a:t>Tributos sobre ventas y costos de cobro</a:t>
            </a:r>
            <a:endParaRPr lang="en-US" sz="1300" dirty="0"/>
          </a:p>
        </p:txBody>
      </p:sp>
      <p:sp>
        <p:nvSpPr>
          <p:cNvPr id="5" name="kicker"/>
          <p:cNvSpPr txBox="1"/>
          <p:nvPr/>
        </p:nvSpPr>
        <p:spPr>
          <a:xfrm>
            <a:off x="457200" y="2697480"/>
            <a:ext cx="3840480" cy="256032"/>
          </a:xfrm>
          <a:prstGeom prst="rect">
            <a:avLst/>
          </a:prstGeom>
          <a:noFill/>
          <a:ln/>
        </p:spPr>
        <p:txBody>
          <a:bodyPr wrap="square" lIns="0" tIns="0" rIns="0" bIns="0" rtlCol="0" anchor="ctr"/>
          <a:lstStyle/>
          <a:p>
            <a:pPr indent="0" marL="0">
              <a:buNone/>
            </a:pPr>
            <a:r>
              <a:rPr lang="en-US" sz="1100" b="1" spc="300" kern="0" dirty="0">
                <a:solidFill>
                  <a:srgbClr val="2A78D6"/>
                </a:solidFill>
              </a:rPr>
              <a:t>COSTOS FIJOS</a:t>
            </a:r>
            <a:endParaRPr lang="en-US" sz="1100" dirty="0"/>
          </a:p>
        </p:txBody>
      </p:sp>
      <p:sp>
        <p:nvSpPr>
          <p:cNvPr id="6" name="lista-fijos"/>
          <p:cNvSpPr txBox="1"/>
          <p:nvPr/>
        </p:nvSpPr>
        <p:spPr>
          <a:xfrm>
            <a:off x="457200" y="2971800"/>
            <a:ext cx="3840480" cy="15087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0F0E"/>
                </a:solidFill>
              </a:rPr>
              <a:t>Remuneración de la dirección</a:t>
            </a:r>
            <a:endParaRPr lang="en-US" sz="1300" dirty="0"/>
          </a:p>
          <a:p>
            <a:pPr marL="342900" indent="-342900">
              <a:spcAft>
                <a:spcPts val="400"/>
              </a:spcAft>
              <a:buSzPct val="100000"/>
              <a:buChar char="•"/>
            </a:pPr>
            <a:r>
              <a:rPr lang="en-US" sz="1300" dirty="0">
                <a:solidFill>
                  <a:srgbClr val="0F0F0E"/>
                </a:solidFill>
              </a:rPr>
              <a:t>Mantenimiento y desarrollo de la plataforma</a:t>
            </a:r>
            <a:endParaRPr lang="en-US" sz="1300" dirty="0"/>
          </a:p>
          <a:p>
            <a:pPr marL="342900" indent="-342900">
              <a:spcAft>
                <a:spcPts val="400"/>
              </a:spcAft>
              <a:buSzPct val="100000"/>
              <a:buChar char="•"/>
            </a:pPr>
            <a:r>
              <a:rPr lang="en-US" sz="1300" dirty="0">
                <a:solidFill>
                  <a:srgbClr val="0F0F0E"/>
                </a:solidFill>
              </a:rPr>
              <a:t>Infraestructura en la nube (escalonada)</a:t>
            </a:r>
            <a:endParaRPr lang="en-US" sz="1300" dirty="0"/>
          </a:p>
          <a:p>
            <a:pPr marL="342900" indent="-342900">
              <a:spcAft>
                <a:spcPts val="400"/>
              </a:spcAft>
              <a:buSzPct val="100000"/>
              <a:buChar char="•"/>
            </a:pPr>
            <a:r>
              <a:rPr lang="en-US" sz="1300" dirty="0">
                <a:solidFill>
                  <a:srgbClr val="0F0F0E"/>
                </a:solidFill>
              </a:rPr>
              <a:t>Servicios contables externos</a:t>
            </a:r>
            <a:endParaRPr lang="en-US" sz="1300" dirty="0"/>
          </a:p>
          <a:p>
            <a:pPr marL="342900" indent="-342900">
              <a:spcAft>
                <a:spcPts val="400"/>
              </a:spcAft>
              <a:buSzPct val="100000"/>
              <a:buChar char="•"/>
            </a:pPr>
            <a:r>
              <a:rPr lang="en-US" sz="1300" dirty="0">
                <a:solidFill>
                  <a:srgbClr val="0F0F0E"/>
                </a:solidFill>
              </a:rPr>
              <a:t>Publicidad y marketing</a:t>
            </a:r>
            <a:endParaRPr lang="en-US" sz="1300" dirty="0"/>
          </a:p>
        </p:txBody>
      </p:sp>
      <p:sp>
        <p:nvSpPr>
          <p:cNvPr id="7" name="tarjeta"/>
          <p:cNvSpPr/>
          <p:nvPr/>
        </p:nvSpPr>
        <p:spPr>
          <a:xfrm>
            <a:off x="4663440" y="1143000"/>
            <a:ext cx="4023360" cy="1051560"/>
          </a:xfrm>
          <a:prstGeom prst="roundRect">
            <a:avLst>
              <a:gd name="adj" fmla="val 10435"/>
            </a:avLst>
          </a:prstGeom>
          <a:solidFill>
            <a:srgbClr val="F4F4F2"/>
          </a:solidFill>
          <a:ln w="12700">
            <a:solidFill>
              <a:srgbClr val="F4F4F2"/>
            </a:solidFill>
            <a:prstDash val="solid"/>
          </a:ln>
        </p:spPr>
      </p:sp>
      <p:sp>
        <p:nvSpPr>
          <p:cNvPr id="8" name="cifra"/>
          <p:cNvSpPr txBox="1"/>
          <p:nvPr/>
        </p:nvSpPr>
        <p:spPr>
          <a:xfrm>
            <a:off x="4846320" y="1234440"/>
            <a:ext cx="3657600" cy="457200"/>
          </a:xfrm>
          <a:prstGeom prst="rect">
            <a:avLst/>
          </a:prstGeom>
          <a:noFill/>
          <a:ln/>
        </p:spPr>
        <p:txBody>
          <a:bodyPr wrap="square" lIns="0" tIns="0" rIns="0" bIns="0" rtlCol="0" anchor="b"/>
          <a:lstStyle/>
          <a:p>
            <a:pPr indent="0" marL="0">
              <a:buNone/>
            </a:pPr>
            <a:r>
              <a:rPr lang="en-US" sz="3000" b="1" dirty="0">
                <a:solidFill>
                  <a:srgbClr val="0F0F0E"/>
                </a:solidFill>
                <a:latin typeface="Arial Narrow" pitchFamily="34" charset="0"/>
                <a:ea typeface="Arial Narrow" pitchFamily="34" charset="-122"/>
                <a:cs typeface="Arial Narrow" pitchFamily="34" charset="-120"/>
              </a:rPr>
              <a:t>$7.104</a:t>
            </a:r>
            <a:endParaRPr lang="en-US" sz="3000" dirty="0"/>
          </a:p>
        </p:txBody>
      </p:sp>
      <p:sp>
        <p:nvSpPr>
          <p:cNvPr id="9" name="etiqueta"/>
          <p:cNvSpPr txBox="1"/>
          <p:nvPr/>
        </p:nvSpPr>
        <p:spPr>
          <a:xfrm>
            <a:off x="4846320" y="1728216"/>
            <a:ext cx="3657600" cy="393192"/>
          </a:xfrm>
          <a:prstGeom prst="rect">
            <a:avLst/>
          </a:prstGeom>
          <a:noFill/>
          <a:ln/>
        </p:spPr>
        <p:txBody>
          <a:bodyPr wrap="square" lIns="0" tIns="0" rIns="0" bIns="0" rtlCol="0" anchor="t"/>
          <a:lstStyle/>
          <a:p>
            <a:pPr indent="0" marL="0">
              <a:buNone/>
            </a:pPr>
            <a:r>
              <a:rPr lang="en-US" sz="1150" dirty="0">
                <a:solidFill>
                  <a:srgbClr val="5B5B57"/>
                </a:solidFill>
              </a:rPr>
              <a:t>resultado del año 2, escenario base</a:t>
            </a:r>
            <a:endParaRPr lang="en-US" sz="1150" dirty="0"/>
          </a:p>
        </p:txBody>
      </p:sp>
      <p:sp>
        <p:nvSpPr>
          <p:cNvPr id="10" name="tarjeta"/>
          <p:cNvSpPr/>
          <p:nvPr/>
        </p:nvSpPr>
        <p:spPr>
          <a:xfrm>
            <a:off x="4663440" y="2331720"/>
            <a:ext cx="1920240" cy="1051560"/>
          </a:xfrm>
          <a:prstGeom prst="roundRect">
            <a:avLst>
              <a:gd name="adj" fmla="val 10435"/>
            </a:avLst>
          </a:prstGeom>
          <a:solidFill>
            <a:srgbClr val="F4F4F2"/>
          </a:solidFill>
          <a:ln w="12700">
            <a:solidFill>
              <a:srgbClr val="F4F4F2"/>
            </a:solidFill>
            <a:prstDash val="solid"/>
          </a:ln>
        </p:spPr>
      </p:sp>
      <p:sp>
        <p:nvSpPr>
          <p:cNvPr id="11" name="cifra"/>
          <p:cNvSpPr txBox="1"/>
          <p:nvPr/>
        </p:nvSpPr>
        <p:spPr>
          <a:xfrm>
            <a:off x="4846320" y="2423160"/>
            <a:ext cx="1554480" cy="457200"/>
          </a:xfrm>
          <a:prstGeom prst="rect">
            <a:avLst/>
          </a:prstGeom>
          <a:noFill/>
          <a:ln/>
        </p:spPr>
        <p:txBody>
          <a:bodyPr wrap="square" lIns="0" tIns="0" rIns="0" bIns="0" rtlCol="0" anchor="b"/>
          <a:lstStyle/>
          <a:p>
            <a:pPr indent="0" marL="0">
              <a:buNone/>
            </a:pPr>
            <a:r>
              <a:rPr lang="en-US" sz="2800" b="1" dirty="0">
                <a:solidFill>
                  <a:srgbClr val="0F0F0E"/>
                </a:solidFill>
                <a:latin typeface="Arial Narrow" pitchFamily="34" charset="0"/>
                <a:ea typeface="Arial Narrow" pitchFamily="34" charset="-122"/>
                <a:cs typeface="Arial Narrow" pitchFamily="34" charset="-120"/>
              </a:rPr>
              <a:t>$1,41</a:t>
            </a:r>
            <a:endParaRPr lang="en-US" sz="2800" dirty="0"/>
          </a:p>
        </p:txBody>
      </p:sp>
      <p:sp>
        <p:nvSpPr>
          <p:cNvPr id="12" name="etiqueta"/>
          <p:cNvSpPr txBox="1"/>
          <p:nvPr/>
        </p:nvSpPr>
        <p:spPr>
          <a:xfrm>
            <a:off x="4846320" y="2916936"/>
            <a:ext cx="1554480" cy="393192"/>
          </a:xfrm>
          <a:prstGeom prst="rect">
            <a:avLst/>
          </a:prstGeom>
          <a:noFill/>
          <a:ln/>
        </p:spPr>
        <p:txBody>
          <a:bodyPr wrap="square" lIns="0" tIns="0" rIns="0" bIns="0" rtlCol="0" anchor="t"/>
          <a:lstStyle/>
          <a:p>
            <a:pPr indent="0" marL="0">
              <a:buNone/>
            </a:pPr>
            <a:r>
              <a:rPr lang="en-US" sz="1150" dirty="0">
                <a:solidFill>
                  <a:srgbClr val="5B5B57"/>
                </a:solidFill>
              </a:rPr>
              <a:t>costo variable por cliente (fase 2: $2,11)</a:t>
            </a:r>
            <a:endParaRPr lang="en-US" sz="1150" dirty="0"/>
          </a:p>
        </p:txBody>
      </p:sp>
      <p:sp>
        <p:nvSpPr>
          <p:cNvPr id="13" name="tarjeta"/>
          <p:cNvSpPr/>
          <p:nvPr/>
        </p:nvSpPr>
        <p:spPr>
          <a:xfrm>
            <a:off x="6766560" y="2331720"/>
            <a:ext cx="1920240" cy="1051560"/>
          </a:xfrm>
          <a:prstGeom prst="roundRect">
            <a:avLst>
              <a:gd name="adj" fmla="val 10435"/>
            </a:avLst>
          </a:prstGeom>
          <a:solidFill>
            <a:srgbClr val="F4F4F2"/>
          </a:solidFill>
          <a:ln w="12700">
            <a:solidFill>
              <a:srgbClr val="F4F4F2"/>
            </a:solidFill>
            <a:prstDash val="solid"/>
          </a:ln>
        </p:spPr>
      </p:sp>
      <p:sp>
        <p:nvSpPr>
          <p:cNvPr id="14" name="cifra"/>
          <p:cNvSpPr txBox="1"/>
          <p:nvPr/>
        </p:nvSpPr>
        <p:spPr>
          <a:xfrm>
            <a:off x="6949440" y="2423160"/>
            <a:ext cx="1554480" cy="457200"/>
          </a:xfrm>
          <a:prstGeom prst="rect">
            <a:avLst/>
          </a:prstGeom>
          <a:noFill/>
          <a:ln/>
        </p:spPr>
        <p:txBody>
          <a:bodyPr wrap="square" lIns="0" tIns="0" rIns="0" bIns="0" rtlCol="0" anchor="b"/>
          <a:lstStyle/>
          <a:p>
            <a:pPr indent="0" marL="0">
              <a:buNone/>
            </a:pPr>
            <a:r>
              <a:rPr lang="en-US" sz="2800" b="1" dirty="0">
                <a:solidFill>
                  <a:srgbClr val="0F0F0E"/>
                </a:solidFill>
                <a:latin typeface="Arial Narrow" pitchFamily="34" charset="0"/>
                <a:ea typeface="Arial Narrow" pitchFamily="34" charset="-122"/>
                <a:cs typeface="Arial Narrow" pitchFamily="34" charset="-120"/>
              </a:rPr>
              <a:t>12,5</a:t>
            </a:r>
            <a:endParaRPr lang="en-US" sz="2800" dirty="0"/>
          </a:p>
        </p:txBody>
      </p:sp>
      <p:sp>
        <p:nvSpPr>
          <p:cNvPr id="15" name="etiqueta"/>
          <p:cNvSpPr txBox="1"/>
          <p:nvPr/>
        </p:nvSpPr>
        <p:spPr>
          <a:xfrm>
            <a:off x="6949440" y="2916936"/>
            <a:ext cx="1554480" cy="393192"/>
          </a:xfrm>
          <a:prstGeom prst="rect">
            <a:avLst/>
          </a:prstGeom>
          <a:noFill/>
          <a:ln/>
        </p:spPr>
        <p:txBody>
          <a:bodyPr wrap="square" lIns="0" tIns="0" rIns="0" bIns="0" rtlCol="0" anchor="t"/>
          <a:lstStyle/>
          <a:p>
            <a:pPr indent="0" marL="0">
              <a:buNone/>
            </a:pPr>
            <a:r>
              <a:rPr lang="en-US" sz="1150" dirty="0">
                <a:solidFill>
                  <a:srgbClr val="5B5B57"/>
                </a:solidFill>
              </a:rPr>
              <a:t>veces: valor del cliente sobre su costo de captación</a:t>
            </a:r>
            <a:endParaRPr lang="en-US" sz="1150" dirty="0"/>
          </a:p>
        </p:txBody>
      </p:sp>
      <p:sp>
        <p:nvSpPr>
          <p:cNvPr id="16" name="tarjeta"/>
          <p:cNvSpPr/>
          <p:nvPr/>
        </p:nvSpPr>
        <p:spPr>
          <a:xfrm>
            <a:off x="4663440" y="3520440"/>
            <a:ext cx="4023360" cy="1051560"/>
          </a:xfrm>
          <a:prstGeom prst="roundRect">
            <a:avLst>
              <a:gd name="adj" fmla="val 10435"/>
            </a:avLst>
          </a:prstGeom>
          <a:solidFill>
            <a:srgbClr val="0F0F0E"/>
          </a:solidFill>
          <a:ln w="12700">
            <a:solidFill>
              <a:srgbClr val="0F0F0E"/>
            </a:solidFill>
            <a:prstDash val="solid"/>
          </a:ln>
        </p:spPr>
      </p:sp>
      <p:sp>
        <p:nvSpPr>
          <p:cNvPr id="17" name="cifra"/>
          <p:cNvSpPr txBox="1"/>
          <p:nvPr/>
        </p:nvSpPr>
        <p:spPr>
          <a:xfrm>
            <a:off x="4846320" y="3611880"/>
            <a:ext cx="3657600" cy="457200"/>
          </a:xfrm>
          <a:prstGeom prst="rect">
            <a:avLst/>
          </a:prstGeom>
          <a:noFill/>
          <a:ln/>
        </p:spPr>
        <p:txBody>
          <a:bodyPr wrap="square" lIns="0" tIns="0" rIns="0" bIns="0" rtlCol="0" anchor="b"/>
          <a:lstStyle/>
          <a:p>
            <a:pPr indent="0" marL="0">
              <a:buNone/>
            </a:pPr>
            <a:r>
              <a:rPr lang="en-US" sz="2800" b="1" dirty="0">
                <a:solidFill>
                  <a:srgbClr val="FFFFFF"/>
                </a:solidFill>
                <a:latin typeface="Arial Narrow" pitchFamily="34" charset="0"/>
                <a:ea typeface="Arial Narrow" pitchFamily="34" charset="-122"/>
                <a:cs typeface="Arial Narrow" pitchFamily="34" charset="-120"/>
              </a:rPr>
              <a:t>Por volumen</a:t>
            </a:r>
            <a:endParaRPr lang="en-US" sz="2800" dirty="0"/>
          </a:p>
        </p:txBody>
      </p:sp>
      <p:sp>
        <p:nvSpPr>
          <p:cNvPr id="18" name="etiqueta"/>
          <p:cNvSpPr txBox="1"/>
          <p:nvPr/>
        </p:nvSpPr>
        <p:spPr>
          <a:xfrm>
            <a:off x="4846320" y="4105656"/>
            <a:ext cx="3657600" cy="393192"/>
          </a:xfrm>
          <a:prstGeom prst="rect">
            <a:avLst/>
          </a:prstGeom>
          <a:noFill/>
          <a:ln/>
        </p:spPr>
        <p:txBody>
          <a:bodyPr wrap="square" lIns="0" tIns="0" rIns="0" bIns="0" rtlCol="0" anchor="t"/>
          <a:lstStyle/>
          <a:p>
            <a:pPr indent="0" marL="0">
              <a:buNone/>
            </a:pPr>
            <a:r>
              <a:rPr lang="en-US" sz="1150" dirty="0">
                <a:solidFill>
                  <a:srgbClr val="C3C2B7"/>
                </a:solidFill>
              </a:rPr>
              <a:t>la fase 3 se activa al superar unos 60 negocios pagando</a:t>
            </a:r>
            <a:endParaRPr lang="en-US" sz="115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5B5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latin typeface="Arial Narrow" pitchFamily="34" charset="0"/>
                <a:ea typeface="Arial Narrow" pitchFamily="34" charset="-122"/>
                <a:cs typeface="Arial Narrow" pitchFamily="34" charset="-120"/>
              </a:rPr>
              <a:t>CONCLUSIONES</a:t>
            </a:r>
            <a:endParaRPr lang="en-US" sz="3000" dirty="0"/>
          </a:p>
        </p:txBody>
      </p:sp>
      <p:sp>
        <p:nvSpPr>
          <p:cNvPr id="3" name="conclusion1"/>
          <p:cNvSpPr/>
          <p:nvPr/>
        </p:nvSpPr>
        <p:spPr>
          <a:xfrm>
            <a:off x="457200" y="1143000"/>
            <a:ext cx="2651760" cy="1600200"/>
          </a:xfrm>
          <a:prstGeom prst="roundRect">
            <a:avLst>
              <a:gd name="adj" fmla="val 6857"/>
            </a:avLst>
          </a:prstGeom>
          <a:solidFill>
            <a:srgbClr val="2C2C2A"/>
          </a:solidFill>
          <a:ln w="12700">
            <a:solidFill>
              <a:srgbClr val="2C2C2A"/>
            </a:solidFill>
            <a:prstDash val="solid"/>
          </a:ln>
        </p:spPr>
      </p:sp>
      <p:sp>
        <p:nvSpPr>
          <p:cNvPr id="4" name="titulo-conclusion"/>
          <p:cNvSpPr txBox="1"/>
          <p:nvPr/>
        </p:nvSpPr>
        <p:spPr>
          <a:xfrm>
            <a:off x="658368" y="1261872"/>
            <a:ext cx="2286000" cy="548640"/>
          </a:xfrm>
          <a:prstGeom prst="rect">
            <a:avLst/>
          </a:prstGeom>
          <a:noFill/>
          <a:ln/>
        </p:spPr>
        <p:txBody>
          <a:bodyPr wrap="square" lIns="0" tIns="0" rIns="0" bIns="0" rtlCol="0" anchor="t"/>
          <a:lstStyle/>
          <a:p>
            <a:pPr indent="0" marL="0">
              <a:buNone/>
            </a:pPr>
            <a:r>
              <a:rPr lang="en-US" sz="1900" b="1" dirty="0">
                <a:solidFill>
                  <a:srgbClr val="FFFFFF"/>
                </a:solidFill>
                <a:latin typeface="Arial Narrow" pitchFamily="34" charset="0"/>
                <a:ea typeface="Arial Narrow" pitchFamily="34" charset="-122"/>
                <a:cs typeface="Arial Narrow" pitchFamily="34" charset="-120"/>
              </a:rPr>
              <a:t>EN EL TOTAL</a:t>
            </a:r>
            <a:endParaRPr lang="en-US" sz="1900" dirty="0"/>
          </a:p>
        </p:txBody>
      </p:sp>
      <p:sp>
        <p:nvSpPr>
          <p:cNvPr id="5" name="texto-conclusion"/>
          <p:cNvSpPr txBox="1"/>
          <p:nvPr/>
        </p:nvSpPr>
        <p:spPr>
          <a:xfrm>
            <a:off x="658368" y="1828800"/>
            <a:ext cx="2286000" cy="868680"/>
          </a:xfrm>
          <a:prstGeom prst="rect">
            <a:avLst/>
          </a:prstGeom>
          <a:noFill/>
          <a:ln/>
        </p:spPr>
        <p:txBody>
          <a:bodyPr wrap="square" lIns="0" tIns="0" rIns="0" bIns="0" rtlCol="0" anchor="t"/>
          <a:lstStyle/>
          <a:p>
            <a:pPr indent="0" marL="0">
              <a:buNone/>
            </a:pPr>
            <a:r>
              <a:rPr lang="en-US" sz="1250" dirty="0">
                <a:solidFill>
                  <a:srgbClr val="C3C2B7"/>
                </a:solidFill>
              </a:rPr>
              <a:t>Desde la fase 2, los costos crecen con el número de clientes por la parte variable.</a:t>
            </a:r>
            <a:endParaRPr lang="en-US" sz="1250" dirty="0"/>
          </a:p>
        </p:txBody>
      </p:sp>
      <p:sp>
        <p:nvSpPr>
          <p:cNvPr id="6" name="conclusion2"/>
          <p:cNvSpPr/>
          <p:nvPr/>
        </p:nvSpPr>
        <p:spPr>
          <a:xfrm>
            <a:off x="3291840" y="1143000"/>
            <a:ext cx="2651760" cy="1600200"/>
          </a:xfrm>
          <a:prstGeom prst="roundRect">
            <a:avLst>
              <a:gd name="adj" fmla="val 6857"/>
            </a:avLst>
          </a:prstGeom>
          <a:solidFill>
            <a:srgbClr val="2C2C2A"/>
          </a:solidFill>
          <a:ln w="12700">
            <a:solidFill>
              <a:srgbClr val="2C2C2A"/>
            </a:solidFill>
            <a:prstDash val="solid"/>
          </a:ln>
        </p:spPr>
      </p:sp>
      <p:sp>
        <p:nvSpPr>
          <p:cNvPr id="7" name="titulo-conclusion"/>
          <p:cNvSpPr txBox="1"/>
          <p:nvPr/>
        </p:nvSpPr>
        <p:spPr>
          <a:xfrm>
            <a:off x="3493008" y="1261872"/>
            <a:ext cx="2286000" cy="548640"/>
          </a:xfrm>
          <a:prstGeom prst="rect">
            <a:avLst/>
          </a:prstGeom>
          <a:noFill/>
          <a:ln/>
        </p:spPr>
        <p:txBody>
          <a:bodyPr wrap="square" lIns="0" tIns="0" rIns="0" bIns="0" rtlCol="0" anchor="t"/>
          <a:lstStyle/>
          <a:p>
            <a:pPr indent="0" marL="0">
              <a:buNone/>
            </a:pPr>
            <a:r>
              <a:rPr lang="en-US" sz="1900" b="1" dirty="0">
                <a:solidFill>
                  <a:srgbClr val="FFFFFF"/>
                </a:solidFill>
                <a:latin typeface="Arial Narrow" pitchFamily="34" charset="0"/>
                <a:ea typeface="Arial Narrow" pitchFamily="34" charset="-122"/>
                <a:cs typeface="Arial Narrow" pitchFamily="34" charset="-120"/>
              </a:rPr>
              <a:t>EN EL COSTO UNITARIO</a:t>
            </a:r>
            <a:endParaRPr lang="en-US" sz="1900" dirty="0"/>
          </a:p>
        </p:txBody>
      </p:sp>
      <p:sp>
        <p:nvSpPr>
          <p:cNvPr id="8" name="texto-conclusion"/>
          <p:cNvSpPr txBox="1"/>
          <p:nvPr/>
        </p:nvSpPr>
        <p:spPr>
          <a:xfrm>
            <a:off x="3493008" y="1828800"/>
            <a:ext cx="2286000" cy="868680"/>
          </a:xfrm>
          <a:prstGeom prst="rect">
            <a:avLst/>
          </a:prstGeom>
          <a:noFill/>
          <a:ln/>
        </p:spPr>
        <p:txBody>
          <a:bodyPr wrap="square" lIns="0" tIns="0" rIns="0" bIns="0" rtlCol="0" anchor="t"/>
          <a:lstStyle/>
          <a:p>
            <a:pPr indent="0" marL="0">
              <a:buNone/>
            </a:pPr>
            <a:r>
              <a:rPr lang="en-US" sz="1250" dirty="0">
                <a:solidFill>
                  <a:srgbClr val="C3C2B7"/>
                </a:solidFill>
              </a:rPr>
              <a:t>A más clientes, menor costo por cliente: $5,11 en el base y $3,53 en el optimista.</a:t>
            </a:r>
            <a:endParaRPr lang="en-US" sz="1250" dirty="0"/>
          </a:p>
        </p:txBody>
      </p:sp>
      <p:sp>
        <p:nvSpPr>
          <p:cNvPr id="9" name="conclusion3"/>
          <p:cNvSpPr/>
          <p:nvPr/>
        </p:nvSpPr>
        <p:spPr>
          <a:xfrm>
            <a:off x="6126480" y="1143000"/>
            <a:ext cx="2651760" cy="1600200"/>
          </a:xfrm>
          <a:prstGeom prst="roundRect">
            <a:avLst>
              <a:gd name="adj" fmla="val 6857"/>
            </a:avLst>
          </a:prstGeom>
          <a:solidFill>
            <a:srgbClr val="2C2C2A"/>
          </a:solidFill>
          <a:ln w="12700">
            <a:solidFill>
              <a:srgbClr val="2C2C2A"/>
            </a:solidFill>
            <a:prstDash val="solid"/>
          </a:ln>
        </p:spPr>
      </p:sp>
      <p:sp>
        <p:nvSpPr>
          <p:cNvPr id="10" name="titulo-conclusion"/>
          <p:cNvSpPr txBox="1"/>
          <p:nvPr/>
        </p:nvSpPr>
        <p:spPr>
          <a:xfrm>
            <a:off x="6327648" y="1261872"/>
            <a:ext cx="2286000" cy="548640"/>
          </a:xfrm>
          <a:prstGeom prst="rect">
            <a:avLst/>
          </a:prstGeom>
          <a:noFill/>
          <a:ln/>
        </p:spPr>
        <p:txBody>
          <a:bodyPr wrap="square" lIns="0" tIns="0" rIns="0" bIns="0" rtlCol="0" anchor="t"/>
          <a:lstStyle/>
          <a:p>
            <a:pPr indent="0" marL="0">
              <a:buNone/>
            </a:pPr>
            <a:r>
              <a:rPr lang="en-US" sz="1900" b="1" dirty="0">
                <a:solidFill>
                  <a:srgbClr val="FFFFFF"/>
                </a:solidFill>
                <a:latin typeface="Arial Narrow" pitchFamily="34" charset="0"/>
                <a:ea typeface="Arial Narrow" pitchFamily="34" charset="-122"/>
                <a:cs typeface="Arial Narrow" pitchFamily="34" charset="-120"/>
              </a:rPr>
              <a:t>EN EL RIESGO</a:t>
            </a:r>
            <a:endParaRPr lang="en-US" sz="1900" dirty="0"/>
          </a:p>
        </p:txBody>
      </p:sp>
      <p:sp>
        <p:nvSpPr>
          <p:cNvPr id="11" name="texto-conclusion"/>
          <p:cNvSpPr txBox="1"/>
          <p:nvPr/>
        </p:nvSpPr>
        <p:spPr>
          <a:xfrm>
            <a:off x="6327648" y="1828800"/>
            <a:ext cx="2286000" cy="868680"/>
          </a:xfrm>
          <a:prstGeom prst="rect">
            <a:avLst/>
          </a:prstGeom>
          <a:noFill/>
          <a:ln/>
        </p:spPr>
        <p:txBody>
          <a:bodyPr wrap="square" lIns="0" tIns="0" rIns="0" bIns="0" rtlCol="0" anchor="t"/>
          <a:lstStyle/>
          <a:p>
            <a:pPr indent="0" marL="0">
              <a:buNone/>
            </a:pPr>
            <a:r>
              <a:rPr lang="en-US" sz="1250" dirty="0">
                <a:solidFill>
                  <a:srgbClr val="C3C2B7"/>
                </a:solidFill>
              </a:rPr>
              <a:t>Con menos ventas la empresa opera cerca del equilibrio y necesita una estructura austera.</a:t>
            </a:r>
            <a:endParaRPr lang="en-US" sz="1250" dirty="0"/>
          </a:p>
        </p:txBody>
      </p:sp>
      <p:sp>
        <p:nvSpPr>
          <p:cNvPr id="12" name="kicker"/>
          <p:cNvSpPr txBox="1"/>
          <p:nvPr/>
        </p:nvSpPr>
        <p:spPr>
          <a:xfrm>
            <a:off x="457200" y="3017520"/>
            <a:ext cx="8229600" cy="256032"/>
          </a:xfrm>
          <a:prstGeom prst="rect">
            <a:avLst/>
          </a:prstGeom>
          <a:noFill/>
          <a:ln/>
        </p:spPr>
        <p:txBody>
          <a:bodyPr wrap="square" lIns="0" tIns="0" rIns="0" bIns="0" rtlCol="0" anchor="ctr"/>
          <a:lstStyle/>
          <a:p>
            <a:pPr indent="0" marL="0">
              <a:buNone/>
            </a:pPr>
            <a:r>
              <a:rPr lang="en-US" sz="1100" b="1" spc="300" kern="0" dirty="0">
                <a:solidFill>
                  <a:srgbClr val="A3A39E"/>
                </a:solidFill>
              </a:rPr>
              <a:t>RECOMENDACIONES</a:t>
            </a:r>
            <a:endParaRPr lang="en-US" sz="1100" dirty="0"/>
          </a:p>
        </p:txBody>
      </p:sp>
      <p:sp>
        <p:nvSpPr>
          <p:cNvPr id="13" name="num-rec"/>
          <p:cNvSpPr/>
          <p:nvPr/>
        </p:nvSpPr>
        <p:spPr>
          <a:xfrm>
            <a:off x="457200" y="3383280"/>
            <a:ext cx="365760" cy="365760"/>
          </a:xfrm>
          <a:prstGeom prst="ellipse">
            <a:avLst/>
          </a:prstGeom>
          <a:solidFill>
            <a:srgbClr val="FFFFFF"/>
          </a:solidFill>
          <a:ln/>
        </p:spPr>
        <p:txBody>
          <a:bodyPr wrap="square" lIns="0" tIns="0" rIns="0" bIns="0" rtlCol="0" anchor="ctr"/>
          <a:lstStyle/>
          <a:p>
            <a:pPr algn="ctr" indent="0" marL="0">
              <a:buNone/>
            </a:pPr>
            <a:r>
              <a:rPr lang="en-US" sz="1500" b="1" dirty="0">
                <a:solidFill>
                  <a:srgbClr val="0F0F0E"/>
                </a:solidFill>
                <a:latin typeface="Arial Narrow" pitchFamily="34" charset="0"/>
                <a:ea typeface="Arial Narrow" pitchFamily="34" charset="-122"/>
                <a:cs typeface="Arial Narrow" pitchFamily="34" charset="-120"/>
              </a:rPr>
              <a:t>1</a:t>
            </a:r>
            <a:endParaRPr lang="en-US" sz="1500" dirty="0"/>
          </a:p>
        </p:txBody>
      </p:sp>
      <p:sp>
        <p:nvSpPr>
          <p:cNvPr id="14" name="recomendacion"/>
          <p:cNvSpPr txBox="1"/>
          <p:nvPr/>
        </p:nvSpPr>
        <p:spPr>
          <a:xfrm>
            <a:off x="960120" y="3383280"/>
            <a:ext cx="3566160" cy="365760"/>
          </a:xfrm>
          <a:prstGeom prst="rect">
            <a:avLst/>
          </a:prstGeom>
          <a:noFill/>
          <a:ln/>
        </p:spPr>
        <p:txBody>
          <a:bodyPr wrap="square" lIns="0" tIns="0" rIns="0" bIns="0" rtlCol="0" anchor="ctr"/>
          <a:lstStyle/>
          <a:p>
            <a:pPr indent="0" marL="0">
              <a:buNone/>
            </a:pPr>
            <a:r>
              <a:rPr lang="en-US" sz="1400" dirty="0">
                <a:solidFill>
                  <a:srgbClr val="FFFFFF"/>
                </a:solidFill>
              </a:rPr>
              <a:t>Registrar desde el inicio las horas por cliente</a:t>
            </a:r>
            <a:endParaRPr lang="en-US" sz="1400" dirty="0"/>
          </a:p>
        </p:txBody>
      </p:sp>
      <p:sp>
        <p:nvSpPr>
          <p:cNvPr id="15" name="num-rec"/>
          <p:cNvSpPr/>
          <p:nvPr/>
        </p:nvSpPr>
        <p:spPr>
          <a:xfrm>
            <a:off x="4663440" y="3383280"/>
            <a:ext cx="365760" cy="365760"/>
          </a:xfrm>
          <a:prstGeom prst="ellipse">
            <a:avLst/>
          </a:prstGeom>
          <a:solidFill>
            <a:srgbClr val="FFFFFF"/>
          </a:solidFill>
          <a:ln/>
        </p:spPr>
        <p:txBody>
          <a:bodyPr wrap="square" lIns="0" tIns="0" rIns="0" bIns="0" rtlCol="0" anchor="ctr"/>
          <a:lstStyle/>
          <a:p>
            <a:pPr algn="ctr" indent="0" marL="0">
              <a:buNone/>
            </a:pPr>
            <a:r>
              <a:rPr lang="en-US" sz="1500" b="1" dirty="0">
                <a:solidFill>
                  <a:srgbClr val="0F0F0E"/>
                </a:solidFill>
                <a:latin typeface="Arial Narrow" pitchFamily="34" charset="0"/>
                <a:ea typeface="Arial Narrow" pitchFamily="34" charset="-122"/>
                <a:cs typeface="Arial Narrow" pitchFamily="34" charset="-120"/>
              </a:rPr>
              <a:t>2</a:t>
            </a:r>
            <a:endParaRPr lang="en-US" sz="1500" dirty="0"/>
          </a:p>
        </p:txBody>
      </p:sp>
      <p:sp>
        <p:nvSpPr>
          <p:cNvPr id="16" name="recomendacion"/>
          <p:cNvSpPr txBox="1"/>
          <p:nvPr/>
        </p:nvSpPr>
        <p:spPr>
          <a:xfrm>
            <a:off x="5166360" y="3383280"/>
            <a:ext cx="3566160" cy="365760"/>
          </a:xfrm>
          <a:prstGeom prst="rect">
            <a:avLst/>
          </a:prstGeom>
          <a:noFill/>
          <a:ln/>
        </p:spPr>
        <p:txBody>
          <a:bodyPr wrap="square" lIns="0" tIns="0" rIns="0" bIns="0" rtlCol="0" anchor="ctr"/>
          <a:lstStyle/>
          <a:p>
            <a:pPr indent="0" marL="0">
              <a:buNone/>
            </a:pPr>
            <a:r>
              <a:rPr lang="en-US" sz="1400" dirty="0">
                <a:solidFill>
                  <a:srgbClr val="FFFFFF"/>
                </a:solidFill>
              </a:rPr>
              <a:t>Presupuesto flexible y comparación mensual</a:t>
            </a:r>
            <a:endParaRPr lang="en-US" sz="1400" dirty="0"/>
          </a:p>
        </p:txBody>
      </p:sp>
      <p:sp>
        <p:nvSpPr>
          <p:cNvPr id="17" name="num-rec"/>
          <p:cNvSpPr/>
          <p:nvPr/>
        </p:nvSpPr>
        <p:spPr>
          <a:xfrm>
            <a:off x="457200" y="3931920"/>
            <a:ext cx="365760" cy="365760"/>
          </a:xfrm>
          <a:prstGeom prst="ellipse">
            <a:avLst/>
          </a:prstGeom>
          <a:solidFill>
            <a:srgbClr val="FFFFFF"/>
          </a:solidFill>
          <a:ln/>
        </p:spPr>
        <p:txBody>
          <a:bodyPr wrap="square" lIns="0" tIns="0" rIns="0" bIns="0" rtlCol="0" anchor="ctr"/>
          <a:lstStyle/>
          <a:p>
            <a:pPr algn="ctr" indent="0" marL="0">
              <a:buNone/>
            </a:pPr>
            <a:r>
              <a:rPr lang="en-US" sz="1500" b="1" dirty="0">
                <a:solidFill>
                  <a:srgbClr val="0F0F0E"/>
                </a:solidFill>
                <a:latin typeface="Arial Narrow" pitchFamily="34" charset="0"/>
                <a:ea typeface="Arial Narrow" pitchFamily="34" charset="-122"/>
                <a:cs typeface="Arial Narrow" pitchFamily="34" charset="-120"/>
              </a:rPr>
              <a:t>3</a:t>
            </a:r>
            <a:endParaRPr lang="en-US" sz="1500" dirty="0"/>
          </a:p>
        </p:txBody>
      </p:sp>
      <p:sp>
        <p:nvSpPr>
          <p:cNvPr id="18" name="recomendacion"/>
          <p:cNvSpPr txBox="1"/>
          <p:nvPr/>
        </p:nvSpPr>
        <p:spPr>
          <a:xfrm>
            <a:off x="960120" y="3931920"/>
            <a:ext cx="3566160" cy="365760"/>
          </a:xfrm>
          <a:prstGeom prst="rect">
            <a:avLst/>
          </a:prstGeom>
          <a:noFill/>
          <a:ln/>
        </p:spPr>
        <p:txBody>
          <a:bodyPr wrap="square" lIns="0" tIns="0" rIns="0" bIns="0" rtlCol="0" anchor="ctr"/>
          <a:lstStyle/>
          <a:p>
            <a:pPr indent="0" marL="0">
              <a:buNone/>
            </a:pPr>
            <a:r>
              <a:rPr lang="en-US" sz="1400" dirty="0">
                <a:solidFill>
                  <a:srgbClr val="FFFFFF"/>
                </a:solidFill>
              </a:rPr>
              <a:t>Activar la fase 3 por volumen</a:t>
            </a:r>
            <a:endParaRPr lang="en-US" sz="1400" dirty="0"/>
          </a:p>
        </p:txBody>
      </p:sp>
      <p:sp>
        <p:nvSpPr>
          <p:cNvPr id="19" name="num-rec"/>
          <p:cNvSpPr/>
          <p:nvPr/>
        </p:nvSpPr>
        <p:spPr>
          <a:xfrm>
            <a:off x="4663440" y="3931920"/>
            <a:ext cx="365760" cy="365760"/>
          </a:xfrm>
          <a:prstGeom prst="ellipse">
            <a:avLst/>
          </a:prstGeom>
          <a:solidFill>
            <a:srgbClr val="FFFFFF"/>
          </a:solidFill>
          <a:ln/>
        </p:spPr>
        <p:txBody>
          <a:bodyPr wrap="square" lIns="0" tIns="0" rIns="0" bIns="0" rtlCol="0" anchor="ctr"/>
          <a:lstStyle/>
          <a:p>
            <a:pPr algn="ctr" indent="0" marL="0">
              <a:buNone/>
            </a:pPr>
            <a:r>
              <a:rPr lang="en-US" sz="1500" b="1" dirty="0">
                <a:solidFill>
                  <a:srgbClr val="0F0F0E"/>
                </a:solidFill>
                <a:latin typeface="Arial Narrow" pitchFamily="34" charset="0"/>
                <a:ea typeface="Arial Narrow" pitchFamily="34" charset="-122"/>
                <a:cs typeface="Arial Narrow" pitchFamily="34" charset="-120"/>
              </a:rPr>
              <a:t>4</a:t>
            </a:r>
            <a:endParaRPr lang="en-US" sz="1500" dirty="0"/>
          </a:p>
        </p:txBody>
      </p:sp>
      <p:sp>
        <p:nvSpPr>
          <p:cNvPr id="20" name="recomendacion"/>
          <p:cNvSpPr txBox="1"/>
          <p:nvPr/>
        </p:nvSpPr>
        <p:spPr>
          <a:xfrm>
            <a:off x="5166360" y="3931920"/>
            <a:ext cx="3566160" cy="365760"/>
          </a:xfrm>
          <a:prstGeom prst="rect">
            <a:avLst/>
          </a:prstGeom>
          <a:noFill/>
          <a:ln/>
        </p:spPr>
        <p:txBody>
          <a:bodyPr wrap="square" lIns="0" tIns="0" rIns="0" bIns="0" rtlCol="0" anchor="ctr"/>
          <a:lstStyle/>
          <a:p>
            <a:pPr indent="0" marL="0">
              <a:buNone/>
            </a:pPr>
            <a:r>
              <a:rPr lang="en-US" sz="1400" dirty="0">
                <a:solidFill>
                  <a:srgbClr val="FFFFFF"/>
                </a:solidFill>
              </a:rPr>
              <a:t>Seguir cuota, conversión y cancelación</a:t>
            </a:r>
            <a:endParaRPr lang="en-US" sz="1400" dirty="0"/>
          </a:p>
        </p:txBody>
      </p:sp>
      <p:sp>
        <p:nvSpPr>
          <p:cNvPr id="25" name="Slide Number Placeholder 0"/>
          <p:cNvSpPr>
            <a:spLocks noGrp="1"/>
          </p:cNvSpPr>
          <p:nvPr>
            <p:ph type="sldNum" sz="quarter" idx="4294967295"/>
          </p:nvPr>
        </p:nvSpPr>
        <p:spPr>
          <a:xfrm>
            <a:off x="8321040" y="4718304"/>
            <a:ext cx="36576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A3A39E"/>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bookeaa">
  <a:themeElements>
    <a:clrScheme name="bookeaa">
      <a:dk1>
        <a:srgbClr val="0F0F0E"/>
      </a:dk1>
      <a:lt1>
        <a:srgbClr val="FFFFFF"/>
      </a:lt1>
      <a:dk2>
        <a:srgbClr val="5B5B57"/>
      </a:dk2>
      <a:lt2>
        <a:srgbClr val="F4F4F2"/>
      </a:lt2>
      <a:accent1>
        <a:srgbClr val="2A78D6"/>
      </a:accent1>
      <a:accent2>
        <a:srgbClr val="EB6834"/>
      </a:accent2>
      <a:accent3>
        <a:srgbClr val="1BAF7A"/>
      </a:accent3>
      <a:accent4>
        <a:srgbClr val="E3E3DF"/>
      </a:accent4>
      <a:accent5>
        <a:srgbClr val="A3A39E"/>
      </a:accent5>
      <a:accent6>
        <a:srgbClr val="2C2C2A"/>
      </a:accent6>
      <a:hlink>
        <a:srgbClr val="2A78D6"/>
      </a:hlink>
      <a:folHlink>
        <a:srgbClr val="5B5B57"/>
      </a:folHlink>
    </a:clrScheme>
    <a:fontScheme name="bookeaa">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costos en tres fases: bookeaa</dc:title>
  <dc:subject>PptxGenJS Presentation</dc:subject>
  <dc:creator>[Nombres de los estudiantes]</dc:creator>
  <cp:lastModifiedBy>[Nombres de los estudiantes]</cp:lastModifiedBy>
  <cp:revision>1</cp:revision>
  <dcterms:created xsi:type="dcterms:W3CDTF">2026-10-08T19:42:48Z</dcterms:created>
  <dcterms:modified xsi:type="dcterms:W3CDTF">2026-10-08T19:42:48Z</dcterms:modified>
</cp:coreProperties>
</file>